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tmp" ContentType="image/jpe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74" r:id="rId3"/>
    <p:sldId id="275" r:id="rId4"/>
    <p:sldId id="276" r:id="rId5"/>
    <p:sldId id="257" r:id="rId6"/>
    <p:sldId id="258" r:id="rId7"/>
    <p:sldId id="259" r:id="rId8"/>
    <p:sldId id="260" r:id="rId9"/>
    <p:sldId id="261" r:id="rId10"/>
    <p:sldId id="262" r:id="rId11"/>
    <p:sldId id="263" r:id="rId12"/>
    <p:sldId id="264" r:id="rId13"/>
    <p:sldId id="265" r:id="rId14"/>
    <p:sldId id="268" r:id="rId15"/>
    <p:sldId id="269" r:id="rId16"/>
    <p:sldId id="271" r:id="rId17"/>
    <p:sldId id="273"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gar Gowda" initials="SG" lastIdx="1" clrIdx="0">
    <p:extLst>
      <p:ext uri="{19B8F6BF-5375-455C-9EA6-DF929625EA0E}">
        <p15:presenceInfo xmlns:p15="http://schemas.microsoft.com/office/powerpoint/2012/main" userId="04cd6051d255c2a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799" autoAdjust="0"/>
    <p:restoredTop sz="94660"/>
  </p:normalViewPr>
  <p:slideViewPr>
    <p:cSldViewPr snapToGrid="0">
      <p:cViewPr varScale="1">
        <p:scale>
          <a:sx n="82" d="100"/>
          <a:sy n="82" d="100"/>
        </p:scale>
        <p:origin x="114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3" Type="http://schemas.openxmlformats.org/officeDocument/2006/relationships/slide" Target="slides/slide2.xml" /><Relationship Id="rId21" Type="http://schemas.openxmlformats.org/officeDocument/2006/relationships/viewProps" Target="viewProp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presProps" Target="pres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microsoft.com/office/2016/11/relationships/changesInfo" Target="changesInfos/changesInfo1.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tableStyles" Target="tableStyles.xml" /><Relationship Id="rId10" Type="http://schemas.openxmlformats.org/officeDocument/2006/relationships/slide" Target="slides/slide9.xml" /><Relationship Id="rId19" Type="http://schemas.openxmlformats.org/officeDocument/2006/relationships/commentAuthors" Target="commentAuthor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theme" Target="theme/theme1.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gar Gowda" userId="04cd6051d255c2a3" providerId="LiveId" clId="{671D9EED-47DF-6C41-BF65-85D320190EF5}"/>
    <pc:docChg chg="custSel addSld delSld modSld">
      <pc:chgData name="Sagar Gowda" userId="04cd6051d255c2a3" providerId="LiveId" clId="{671D9EED-47DF-6C41-BF65-85D320190EF5}" dt="2024-07-26T04:36:23.430" v="499" actId="2696"/>
      <pc:docMkLst>
        <pc:docMk/>
      </pc:docMkLst>
      <pc:sldChg chg="modSp">
        <pc:chgData name="Sagar Gowda" userId="04cd6051d255c2a3" providerId="LiveId" clId="{671D9EED-47DF-6C41-BF65-85D320190EF5}" dt="2024-07-25T15:28:51.888" v="450" actId="1076"/>
        <pc:sldMkLst>
          <pc:docMk/>
          <pc:sldMk cId="2390894736" sldId="261"/>
        </pc:sldMkLst>
        <pc:spChg chg="mod">
          <ac:chgData name="Sagar Gowda" userId="04cd6051d255c2a3" providerId="LiveId" clId="{671D9EED-47DF-6C41-BF65-85D320190EF5}" dt="2024-07-25T15:28:51.888" v="450" actId="1076"/>
          <ac:spMkLst>
            <pc:docMk/>
            <pc:sldMk cId="2390894736" sldId="261"/>
            <ac:spMk id="3" creationId="{A00BC8EE-BC70-F4C0-DC2B-5BF9D2A9BED4}"/>
          </ac:spMkLst>
        </pc:spChg>
      </pc:sldChg>
      <pc:sldChg chg="addSp modSp">
        <pc:chgData name="Sagar Gowda" userId="04cd6051d255c2a3" providerId="LiveId" clId="{671D9EED-47DF-6C41-BF65-85D320190EF5}" dt="2024-07-25T15:34:15.343" v="486" actId="14100"/>
        <pc:sldMkLst>
          <pc:docMk/>
          <pc:sldMk cId="3250435195" sldId="262"/>
        </pc:sldMkLst>
        <pc:picChg chg="add mod">
          <ac:chgData name="Sagar Gowda" userId="04cd6051d255c2a3" providerId="LiveId" clId="{671D9EED-47DF-6C41-BF65-85D320190EF5}" dt="2024-07-25T15:34:15.343" v="486" actId="14100"/>
          <ac:picMkLst>
            <pc:docMk/>
            <pc:sldMk cId="3250435195" sldId="262"/>
            <ac:picMk id="2" creationId="{D4D41062-2616-2980-B5BF-28586A8A22F2}"/>
          </ac:picMkLst>
        </pc:picChg>
        <pc:picChg chg="mod">
          <ac:chgData name="Sagar Gowda" userId="04cd6051d255c2a3" providerId="LiveId" clId="{671D9EED-47DF-6C41-BF65-85D320190EF5}" dt="2024-07-25T15:33:52.543" v="481" actId="1076"/>
          <ac:picMkLst>
            <pc:docMk/>
            <pc:sldMk cId="3250435195" sldId="262"/>
            <ac:picMk id="1026" creationId="{7C1E69BE-16DA-85F4-A6E8-A6C1B9CF5D2F}"/>
          </ac:picMkLst>
        </pc:picChg>
        <pc:picChg chg="mod">
          <ac:chgData name="Sagar Gowda" userId="04cd6051d255c2a3" providerId="LiveId" clId="{671D9EED-47DF-6C41-BF65-85D320190EF5}" dt="2024-07-25T15:34:04.510" v="484" actId="14100"/>
          <ac:picMkLst>
            <pc:docMk/>
            <pc:sldMk cId="3250435195" sldId="262"/>
            <ac:picMk id="2050" creationId="{48BA1EB5-4438-A7D0-A37E-B0B84BA6DEA6}"/>
          </ac:picMkLst>
        </pc:picChg>
        <pc:picChg chg="mod">
          <ac:chgData name="Sagar Gowda" userId="04cd6051d255c2a3" providerId="LiveId" clId="{671D9EED-47DF-6C41-BF65-85D320190EF5}" dt="2024-07-25T15:31:45.004" v="472" actId="14100"/>
          <ac:picMkLst>
            <pc:docMk/>
            <pc:sldMk cId="3250435195" sldId="262"/>
            <ac:picMk id="2052" creationId="{122BB9F1-F735-D50F-C7F4-546343DFD8F7}"/>
          </ac:picMkLst>
        </pc:picChg>
      </pc:sldChg>
      <pc:sldChg chg="del">
        <pc:chgData name="Sagar Gowda" userId="04cd6051d255c2a3" providerId="LiveId" clId="{671D9EED-47DF-6C41-BF65-85D320190EF5}" dt="2024-07-26T04:36:23.430" v="499" actId="2696"/>
        <pc:sldMkLst>
          <pc:docMk/>
          <pc:sldMk cId="573705556" sldId="266"/>
        </pc:sldMkLst>
      </pc:sldChg>
      <pc:sldChg chg="del">
        <pc:chgData name="Sagar Gowda" userId="04cd6051d255c2a3" providerId="LiveId" clId="{671D9EED-47DF-6C41-BF65-85D320190EF5}" dt="2024-07-25T15:43:08.050" v="496" actId="2696"/>
        <pc:sldMkLst>
          <pc:docMk/>
          <pc:sldMk cId="829660676" sldId="267"/>
        </pc:sldMkLst>
      </pc:sldChg>
      <pc:sldChg chg="modSp">
        <pc:chgData name="Sagar Gowda" userId="04cd6051d255c2a3" providerId="LiveId" clId="{671D9EED-47DF-6C41-BF65-85D320190EF5}" dt="2024-07-25T15:36:13.413" v="493" actId="1076"/>
        <pc:sldMkLst>
          <pc:docMk/>
          <pc:sldMk cId="1081305088" sldId="269"/>
        </pc:sldMkLst>
        <pc:picChg chg="mod">
          <ac:chgData name="Sagar Gowda" userId="04cd6051d255c2a3" providerId="LiveId" clId="{671D9EED-47DF-6C41-BF65-85D320190EF5}" dt="2024-07-25T15:36:13.413" v="493" actId="1076"/>
          <ac:picMkLst>
            <pc:docMk/>
            <pc:sldMk cId="1081305088" sldId="269"/>
            <ac:picMk id="1026" creationId="{6834EDF2-94F6-E103-87FE-0DCB2AF7CFA0}"/>
          </ac:picMkLst>
        </pc:picChg>
      </pc:sldChg>
      <pc:sldChg chg="del">
        <pc:chgData name="Sagar Gowda" userId="04cd6051d255c2a3" providerId="LiveId" clId="{671D9EED-47DF-6C41-BF65-85D320190EF5}" dt="2024-07-25T15:37:42.655" v="494" actId="2696"/>
        <pc:sldMkLst>
          <pc:docMk/>
          <pc:sldMk cId="2406664172" sldId="270"/>
        </pc:sldMkLst>
      </pc:sldChg>
      <pc:sldChg chg="del">
        <pc:chgData name="Sagar Gowda" userId="04cd6051d255c2a3" providerId="LiveId" clId="{671D9EED-47DF-6C41-BF65-85D320190EF5}" dt="2024-07-25T15:40:13.969" v="495" actId="2696"/>
        <pc:sldMkLst>
          <pc:docMk/>
          <pc:sldMk cId="737731477" sldId="272"/>
        </pc:sldMkLst>
      </pc:sldChg>
      <pc:sldChg chg="new del">
        <pc:chgData name="Sagar Gowda" userId="04cd6051d255c2a3" providerId="LiveId" clId="{671D9EED-47DF-6C41-BF65-85D320190EF5}" dt="2024-07-25T15:01:51.148" v="1" actId="2696"/>
        <pc:sldMkLst>
          <pc:docMk/>
          <pc:sldMk cId="1550255467" sldId="274"/>
        </pc:sldMkLst>
      </pc:sldChg>
      <pc:sldChg chg="addSp delSp modSp new">
        <pc:chgData name="Sagar Gowda" userId="04cd6051d255c2a3" providerId="LiveId" clId="{671D9EED-47DF-6C41-BF65-85D320190EF5}" dt="2024-07-25T15:05:15.579" v="45" actId="1076"/>
        <pc:sldMkLst>
          <pc:docMk/>
          <pc:sldMk cId="1595185874" sldId="274"/>
        </pc:sldMkLst>
        <pc:spChg chg="mod">
          <ac:chgData name="Sagar Gowda" userId="04cd6051d255c2a3" providerId="LiveId" clId="{671D9EED-47DF-6C41-BF65-85D320190EF5}" dt="2024-07-25T15:03:55.184" v="39" actId="255"/>
          <ac:spMkLst>
            <pc:docMk/>
            <pc:sldMk cId="1595185874" sldId="274"/>
            <ac:spMk id="2" creationId="{1EB06712-EF4E-2DE0-F514-C233A5F7BE3A}"/>
          </ac:spMkLst>
        </pc:spChg>
        <pc:spChg chg="del">
          <ac:chgData name="Sagar Gowda" userId="04cd6051d255c2a3" providerId="LiveId" clId="{671D9EED-47DF-6C41-BF65-85D320190EF5}" dt="2024-07-25T15:05:05.387" v="40" actId="931"/>
          <ac:spMkLst>
            <pc:docMk/>
            <pc:sldMk cId="1595185874" sldId="274"/>
            <ac:spMk id="3" creationId="{31DBD400-79A3-A93A-A573-7C367E170B22}"/>
          </ac:spMkLst>
        </pc:spChg>
        <pc:picChg chg="add mod ord">
          <ac:chgData name="Sagar Gowda" userId="04cd6051d255c2a3" providerId="LiveId" clId="{671D9EED-47DF-6C41-BF65-85D320190EF5}" dt="2024-07-25T15:05:15.579" v="45" actId="1076"/>
          <ac:picMkLst>
            <pc:docMk/>
            <pc:sldMk cId="1595185874" sldId="274"/>
            <ac:picMk id="4" creationId="{D3EEFA66-0F47-7819-DB6E-A27A56B4F700}"/>
          </ac:picMkLst>
        </pc:picChg>
      </pc:sldChg>
      <pc:sldChg chg="addSp modSp new">
        <pc:chgData name="Sagar Gowda" userId="04cd6051d255c2a3" providerId="LiveId" clId="{671D9EED-47DF-6C41-BF65-85D320190EF5}" dt="2024-07-25T15:22:43.315" v="416" actId="115"/>
        <pc:sldMkLst>
          <pc:docMk/>
          <pc:sldMk cId="444923714" sldId="275"/>
        </pc:sldMkLst>
        <pc:spChg chg="mod">
          <ac:chgData name="Sagar Gowda" userId="04cd6051d255c2a3" providerId="LiveId" clId="{671D9EED-47DF-6C41-BF65-85D320190EF5}" dt="2024-07-25T15:06:52.982" v="77" actId="20577"/>
          <ac:spMkLst>
            <pc:docMk/>
            <pc:sldMk cId="444923714" sldId="275"/>
            <ac:spMk id="2" creationId="{37F6B684-5BF4-162A-3328-37647E2F7932}"/>
          </ac:spMkLst>
        </pc:spChg>
        <pc:spChg chg="mod">
          <ac:chgData name="Sagar Gowda" userId="04cd6051d255c2a3" providerId="LiveId" clId="{671D9EED-47DF-6C41-BF65-85D320190EF5}" dt="2024-07-25T15:22:43.315" v="416" actId="115"/>
          <ac:spMkLst>
            <pc:docMk/>
            <pc:sldMk cId="444923714" sldId="275"/>
            <ac:spMk id="3" creationId="{FABA16D2-7177-0545-54D3-CD5146980974}"/>
          </ac:spMkLst>
        </pc:spChg>
        <pc:picChg chg="add mod">
          <ac:chgData name="Sagar Gowda" userId="04cd6051d255c2a3" providerId="LiveId" clId="{671D9EED-47DF-6C41-BF65-85D320190EF5}" dt="2024-07-25T15:14:52.374" v="349" actId="1076"/>
          <ac:picMkLst>
            <pc:docMk/>
            <pc:sldMk cId="444923714" sldId="275"/>
            <ac:picMk id="4" creationId="{D37C1E46-18DD-4EC7-0DCC-17DC01D1DE88}"/>
          </ac:picMkLst>
        </pc:picChg>
      </pc:sldChg>
      <pc:sldChg chg="addSp delSp modSp new">
        <pc:chgData name="Sagar Gowda" userId="04cd6051d255c2a3" providerId="LiveId" clId="{671D9EED-47DF-6C41-BF65-85D320190EF5}" dt="2024-07-25T15:26:41.919" v="439" actId="27636"/>
        <pc:sldMkLst>
          <pc:docMk/>
          <pc:sldMk cId="58617351" sldId="276"/>
        </pc:sldMkLst>
        <pc:spChg chg="del">
          <ac:chgData name="Sagar Gowda" userId="04cd6051d255c2a3" providerId="LiveId" clId="{671D9EED-47DF-6C41-BF65-85D320190EF5}" dt="2024-07-25T15:14:59.356" v="350" actId="478"/>
          <ac:spMkLst>
            <pc:docMk/>
            <pc:sldMk cId="58617351" sldId="276"/>
            <ac:spMk id="2" creationId="{3B136F29-1AE5-BDF9-BE06-33E8943D150D}"/>
          </ac:spMkLst>
        </pc:spChg>
        <pc:spChg chg="mod">
          <ac:chgData name="Sagar Gowda" userId="04cd6051d255c2a3" providerId="LiveId" clId="{671D9EED-47DF-6C41-BF65-85D320190EF5}" dt="2024-07-25T15:26:41.919" v="439" actId="27636"/>
          <ac:spMkLst>
            <pc:docMk/>
            <pc:sldMk cId="58617351" sldId="276"/>
            <ac:spMk id="3" creationId="{8CB8D7C5-4C68-6538-375C-BFA2DDE31E37}"/>
          </ac:spMkLst>
        </pc:spChg>
        <pc:picChg chg="add mod">
          <ac:chgData name="Sagar Gowda" userId="04cd6051d255c2a3" providerId="LiveId" clId="{671D9EED-47DF-6C41-BF65-85D320190EF5}" dt="2024-07-25T15:25:01.722" v="433" actId="1076"/>
          <ac:picMkLst>
            <pc:docMk/>
            <pc:sldMk cId="58617351" sldId="276"/>
            <ac:picMk id="2" creationId="{C94D5BC6-28DB-4758-B610-A80771EA0ED6}"/>
          </ac:picMkLst>
        </pc:picChg>
      </pc:sldChg>
      <pc:sldChg chg="new del">
        <pc:chgData name="Sagar Gowda" userId="04cd6051d255c2a3" providerId="LiveId" clId="{671D9EED-47DF-6C41-BF65-85D320190EF5}" dt="2024-07-25T15:44:08.812" v="498" actId="2696"/>
        <pc:sldMkLst>
          <pc:docMk/>
          <pc:sldMk cId="4011265386" sldId="277"/>
        </pc:sldMkLst>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7/26/2024</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7/26/2024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7/26/2024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7/26/2024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7/26/2024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7/26/2024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7/26/2024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7/26/2024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7/26/2024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7/26/2024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7/26/2024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7/26/2024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7/26/2024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7/26/2024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19" Type="http://schemas.openxmlformats.org/officeDocument/2006/relationships/image" Target="../media/image2.png"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7/26/2024</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 /><Relationship Id="rId2" Type="http://schemas.openxmlformats.org/officeDocument/2006/relationships/image" Target="../media/image3.jpe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image" Target="../media/image5.jpeg"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image" Target="../media/image6.tmp"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image" Target="../media/image7.tmp"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3" Type="http://schemas.openxmlformats.org/officeDocument/2006/relationships/hyperlink" Target="https://earth.org/what-is-e-waste-recycling/" TargetMode="External" /><Relationship Id="rId2" Type="http://schemas.openxmlformats.org/officeDocument/2006/relationships/image" Target="../media/image8.jpeg" /><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Relationship Id="rId2" Type="http://schemas.openxmlformats.org/officeDocument/2006/relationships/image" Target="../media/image9.png" /><Relationship Id="rId1" Type="http://schemas.openxmlformats.org/officeDocument/2006/relationships/slideLayout" Target="../slideLayouts/slideLayout7.xml" /></Relationships>
</file>

<file path=ppt/slides/_rels/slide8.xml.rels><?xml version="1.0" encoding="UTF-8" standalone="yes"?>
<Relationships xmlns="http://schemas.openxmlformats.org/package/2006/relationships"><Relationship Id="rId3" Type="http://schemas.openxmlformats.org/officeDocument/2006/relationships/hyperlink" Target="https://en.wikipedia.org/wiki/Tamil_Nadu" TargetMode="External" /><Relationship Id="rId2" Type="http://schemas.openxmlformats.org/officeDocument/2006/relationships/hyperlink" Target="https://en.wikipedia.org/wiki/Maharashtra" TargetMode="External" /><Relationship Id="rId1" Type="http://schemas.openxmlformats.org/officeDocument/2006/relationships/slideLayout" Target="../slideLayouts/slideLayout7.xml" /><Relationship Id="rId5" Type="http://schemas.openxmlformats.org/officeDocument/2006/relationships/image" Target="../media/image10.jpeg" /><Relationship Id="rId4" Type="http://schemas.openxmlformats.org/officeDocument/2006/relationships/hyperlink" Target="https://en.wikipedia.org/wiki/Andhra_Pradesh" TargetMode="External" /></Relationships>
</file>

<file path=ppt/slides/_rels/slide9.xml.rels><?xml version="1.0" encoding="UTF-8" standalone="yes"?>
<Relationships xmlns="http://schemas.openxmlformats.org/package/2006/relationships"><Relationship Id="rId2" Type="http://schemas.openxmlformats.org/officeDocument/2006/relationships/image" Target="../media/image11.jpeg" /><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Relationship Id="rId3" Type="http://schemas.openxmlformats.org/officeDocument/2006/relationships/image" Target="../media/image13.tmp" /><Relationship Id="rId2" Type="http://schemas.openxmlformats.org/officeDocument/2006/relationships/image" Target="../media/image12.jpeg" /><Relationship Id="rId1" Type="http://schemas.openxmlformats.org/officeDocument/2006/relationships/slideLayout" Target="../slideLayouts/slideLayout7.xml" /><Relationship Id="rId5" Type="http://schemas.openxmlformats.org/officeDocument/2006/relationships/image" Target="../media/image15.tmp" /><Relationship Id="rId4" Type="http://schemas.openxmlformats.org/officeDocument/2006/relationships/image" Target="../media/image14.tmp"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2.xml.rels><?xml version="1.0" encoding="UTF-8" standalone="yes"?>
<Relationships xmlns="http://schemas.openxmlformats.org/package/2006/relationships"><Relationship Id="rId3" Type="http://schemas.openxmlformats.org/officeDocument/2006/relationships/image" Target="../media/image17.png" /><Relationship Id="rId2" Type="http://schemas.openxmlformats.org/officeDocument/2006/relationships/image" Target="../media/image16.jpeg" /><Relationship Id="rId1" Type="http://schemas.openxmlformats.org/officeDocument/2006/relationships/slideLayout" Target="../slideLayouts/slideLayout7.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4.xml.rels><?xml version="1.0" encoding="UTF-8" standalone="yes"?>
<Relationships xmlns="http://schemas.openxmlformats.org/package/2006/relationships"><Relationship Id="rId3" Type="http://schemas.openxmlformats.org/officeDocument/2006/relationships/image" Target="../media/image19.gif" /><Relationship Id="rId2" Type="http://schemas.openxmlformats.org/officeDocument/2006/relationships/image" Target="../media/image18.jpeg" /><Relationship Id="rId1" Type="http://schemas.openxmlformats.org/officeDocument/2006/relationships/slideLayout" Target="../slideLayouts/slideLayout7.xml" /></Relationships>
</file>

<file path=ppt/slides/_rels/slide15.xml.rels><?xml version="1.0" encoding="UTF-8" standalone="yes"?>
<Relationships xmlns="http://schemas.openxmlformats.org/package/2006/relationships"><Relationship Id="rId2" Type="http://schemas.openxmlformats.org/officeDocument/2006/relationships/image" Target="../media/image20.tmp" /><Relationship Id="rId1" Type="http://schemas.openxmlformats.org/officeDocument/2006/relationships/slideLayout" Target="../slideLayouts/slideLayout7.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8584A-9A4D-9D9E-8946-3EE13371237E}"/>
              </a:ext>
            </a:extLst>
          </p:cNvPr>
          <p:cNvSpPr>
            <a:spLocks noGrp="1"/>
          </p:cNvSpPr>
          <p:nvPr>
            <p:ph type="ctrTitle"/>
          </p:nvPr>
        </p:nvSpPr>
        <p:spPr>
          <a:xfrm>
            <a:off x="1330799" y="2857509"/>
            <a:ext cx="9730858" cy="1217027"/>
          </a:xfrm>
        </p:spPr>
        <p:txBody>
          <a:bodyPr>
            <a:normAutofit/>
          </a:bodyPr>
          <a:lstStyle/>
          <a:p>
            <a:r>
              <a:rPr lang="en-IN" sz="4400" dirty="0"/>
              <a:t>Topic :- Electronic Waste recycling</a:t>
            </a:r>
          </a:p>
        </p:txBody>
      </p:sp>
      <p:sp>
        <p:nvSpPr>
          <p:cNvPr id="5" name="TextBox 4">
            <a:extLst>
              <a:ext uri="{FF2B5EF4-FFF2-40B4-BE49-F238E27FC236}">
                <a16:creationId xmlns:a16="http://schemas.microsoft.com/office/drawing/2014/main" id="{1E514FB8-58E4-061B-D4F5-6884B6612B1C}"/>
              </a:ext>
            </a:extLst>
          </p:cNvPr>
          <p:cNvSpPr txBox="1"/>
          <p:nvPr/>
        </p:nvSpPr>
        <p:spPr>
          <a:xfrm>
            <a:off x="3687755" y="4045667"/>
            <a:ext cx="5207678" cy="461665"/>
          </a:xfrm>
          <a:prstGeom prst="rect">
            <a:avLst/>
          </a:prstGeom>
          <a:noFill/>
        </p:spPr>
        <p:txBody>
          <a:bodyPr wrap="square">
            <a:spAutoFit/>
          </a:bodyPr>
          <a:lstStyle/>
          <a:p>
            <a:r>
              <a:rPr lang="en-US" sz="2400" i="0" dirty="0">
                <a:effectLst/>
                <a:latin typeface="Times New Roman" panose="02020603050405020304" pitchFamily="18" charset="0"/>
                <a:cs typeface="Times New Roman" panose="02020603050405020304" pitchFamily="18" charset="0"/>
              </a:rPr>
              <a:t>Tackling India’s Next Big Problem</a:t>
            </a:r>
            <a:endParaRPr lang="en-IN" sz="2400" dirty="0">
              <a:latin typeface="Times New Roman" panose="02020603050405020304" pitchFamily="18" charset="0"/>
              <a:cs typeface="Times New Roman" panose="02020603050405020304" pitchFamily="18" charset="0"/>
            </a:endParaRPr>
          </a:p>
        </p:txBody>
      </p:sp>
      <p:sp>
        <p:nvSpPr>
          <p:cNvPr id="12" name="Subtitle 2">
            <a:extLst>
              <a:ext uri="{FF2B5EF4-FFF2-40B4-BE49-F238E27FC236}">
                <a16:creationId xmlns:a16="http://schemas.microsoft.com/office/drawing/2014/main" id="{74CC4B65-2F66-2F65-64FA-6802B26A642F}"/>
              </a:ext>
            </a:extLst>
          </p:cNvPr>
          <p:cNvSpPr txBox="1">
            <a:spLocks/>
          </p:cNvSpPr>
          <p:nvPr/>
        </p:nvSpPr>
        <p:spPr>
          <a:xfrm flipV="1">
            <a:off x="1876425" y="1646373"/>
            <a:ext cx="5619242" cy="1955665"/>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1000"/>
              </a:spcBef>
              <a:buSzPct val="125000"/>
              <a:buFont typeface="Arial" panose="020B0604020202020204" pitchFamily="34" charset="0"/>
              <a:buNone/>
              <a:defRPr sz="2000" kern="1200" cap="all" baseline="0">
                <a:solidFill>
                  <a:schemeClr val="tx2"/>
                </a:solidFill>
                <a:latin typeface="+mn-lt"/>
                <a:ea typeface="+mn-ea"/>
                <a:cs typeface="+mn-cs"/>
              </a:defRPr>
            </a:lvl1pPr>
            <a:lvl2pPr marL="457200" indent="0" algn="ctr" defTabSz="914400" rtl="0" eaLnBrk="1" latinLnBrk="0" hangingPunct="1">
              <a:lnSpc>
                <a:spcPct val="120000"/>
              </a:lnSpc>
              <a:spcBef>
                <a:spcPts val="500"/>
              </a:spcBef>
              <a:buSzPct val="125000"/>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20000"/>
              </a:lnSpc>
              <a:spcBef>
                <a:spcPts val="500"/>
              </a:spcBef>
              <a:buSzPct val="125000"/>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9pPr>
          </a:lstStyle>
          <a:p>
            <a:endParaRPr lang="en-IN" sz="2800" dirty="0"/>
          </a:p>
        </p:txBody>
      </p:sp>
      <p:sp>
        <p:nvSpPr>
          <p:cNvPr id="14" name="Subtitle 2">
            <a:extLst>
              <a:ext uri="{FF2B5EF4-FFF2-40B4-BE49-F238E27FC236}">
                <a16:creationId xmlns:a16="http://schemas.microsoft.com/office/drawing/2014/main" id="{2A6D84EC-9F1B-5201-F39A-725DB7CB4A08}"/>
              </a:ext>
            </a:extLst>
          </p:cNvPr>
          <p:cNvSpPr txBox="1">
            <a:spLocks/>
          </p:cNvSpPr>
          <p:nvPr/>
        </p:nvSpPr>
        <p:spPr>
          <a:xfrm rot="10800000" flipV="1">
            <a:off x="476758" y="4620898"/>
            <a:ext cx="3435114" cy="2100060"/>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1000"/>
              </a:spcBef>
              <a:buSzPct val="125000"/>
              <a:buFont typeface="Arial" panose="020B0604020202020204" pitchFamily="34" charset="0"/>
              <a:buNone/>
              <a:defRPr sz="2000" kern="1200" cap="all" baseline="0">
                <a:solidFill>
                  <a:schemeClr val="tx2"/>
                </a:solidFill>
                <a:latin typeface="+mn-lt"/>
                <a:ea typeface="+mn-ea"/>
                <a:cs typeface="+mn-cs"/>
              </a:defRPr>
            </a:lvl1pPr>
            <a:lvl2pPr marL="457200" indent="0" algn="ctr" defTabSz="914400" rtl="0" eaLnBrk="1" latinLnBrk="0" hangingPunct="1">
              <a:lnSpc>
                <a:spcPct val="120000"/>
              </a:lnSpc>
              <a:spcBef>
                <a:spcPts val="500"/>
              </a:spcBef>
              <a:buSzPct val="125000"/>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20000"/>
              </a:lnSpc>
              <a:spcBef>
                <a:spcPts val="500"/>
              </a:spcBef>
              <a:buSzPct val="125000"/>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9pPr>
          </a:lstStyle>
          <a:p>
            <a:endParaRPr lang="en-IN" sz="2800" dirty="0"/>
          </a:p>
        </p:txBody>
      </p:sp>
      <p:pic>
        <p:nvPicPr>
          <p:cNvPr id="17" name="Picture 16">
            <a:extLst>
              <a:ext uri="{FF2B5EF4-FFF2-40B4-BE49-F238E27FC236}">
                <a16:creationId xmlns:a16="http://schemas.microsoft.com/office/drawing/2014/main" id="{F914D8B7-4608-C98E-9CA9-70175EBBCE9C}"/>
              </a:ext>
            </a:extLst>
          </p:cNvPr>
          <p:cNvPicPr>
            <a:picLocks noChangeAspect="1"/>
          </p:cNvPicPr>
          <p:nvPr/>
        </p:nvPicPr>
        <p:blipFill>
          <a:blip r:embed="rId2"/>
          <a:stretch>
            <a:fillRect/>
          </a:stretch>
        </p:blipFill>
        <p:spPr>
          <a:xfrm>
            <a:off x="67184" y="137041"/>
            <a:ext cx="2527231" cy="2158676"/>
          </a:xfrm>
          <a:prstGeom prst="rect">
            <a:avLst/>
          </a:prstGeom>
        </p:spPr>
      </p:pic>
      <p:sp>
        <p:nvSpPr>
          <p:cNvPr id="19" name="TextBox 18">
            <a:extLst>
              <a:ext uri="{FF2B5EF4-FFF2-40B4-BE49-F238E27FC236}">
                <a16:creationId xmlns:a16="http://schemas.microsoft.com/office/drawing/2014/main" id="{AC6A7DC0-630C-B8F2-A84B-A05325630510}"/>
              </a:ext>
            </a:extLst>
          </p:cNvPr>
          <p:cNvSpPr txBox="1"/>
          <p:nvPr/>
        </p:nvSpPr>
        <p:spPr>
          <a:xfrm>
            <a:off x="2594415" y="146622"/>
            <a:ext cx="9263446" cy="1446550"/>
          </a:xfrm>
          <a:prstGeom prst="rect">
            <a:avLst/>
          </a:prstGeom>
          <a:noFill/>
        </p:spPr>
        <p:txBody>
          <a:bodyPr wrap="square" rtlCol="0">
            <a:spAutoFit/>
          </a:bodyPr>
          <a:lstStyle/>
          <a:p>
            <a:pPr algn="l"/>
            <a:r>
              <a:rPr lang="en-IN" sz="3200" dirty="0"/>
              <a:t>             </a:t>
            </a:r>
            <a:r>
              <a:rPr lang="en-IN" sz="3200" dirty="0" err="1"/>
              <a:t>Malnad</a:t>
            </a:r>
            <a:r>
              <a:rPr lang="en-IN" sz="3200" dirty="0"/>
              <a:t> College of Engineering ,Hassan</a:t>
            </a:r>
          </a:p>
          <a:p>
            <a:pPr algn="l"/>
            <a:r>
              <a:rPr lang="en-IN" sz="3200" dirty="0"/>
              <a:t>(An autonomous Institution affiliated to VTU, </a:t>
            </a:r>
            <a:r>
              <a:rPr lang="en-IN" sz="3200" dirty="0" err="1"/>
              <a:t>Belagavi</a:t>
            </a:r>
            <a:r>
              <a:rPr lang="en-IN" sz="3200" dirty="0"/>
              <a:t>)</a:t>
            </a:r>
          </a:p>
          <a:p>
            <a:pPr algn="l"/>
            <a:r>
              <a:rPr lang="en-IN" dirty="0"/>
              <a:t>                                                  </a:t>
            </a:r>
            <a:r>
              <a:rPr lang="en-IN" sz="2400" dirty="0"/>
              <a:t>2023-24</a:t>
            </a:r>
            <a:endParaRPr lang="en-US" sz="2400" dirty="0"/>
          </a:p>
        </p:txBody>
      </p:sp>
      <p:pic>
        <p:nvPicPr>
          <p:cNvPr id="20" name="Picture 19">
            <a:extLst>
              <a:ext uri="{FF2B5EF4-FFF2-40B4-BE49-F238E27FC236}">
                <a16:creationId xmlns:a16="http://schemas.microsoft.com/office/drawing/2014/main" id="{F146D989-B79E-221C-40DE-75A1680BE5EB}"/>
              </a:ext>
            </a:extLst>
          </p:cNvPr>
          <p:cNvPicPr>
            <a:picLocks noChangeAspect="1"/>
          </p:cNvPicPr>
          <p:nvPr/>
        </p:nvPicPr>
        <p:blipFill>
          <a:blip r:embed="rId3"/>
          <a:stretch>
            <a:fillRect/>
          </a:stretch>
        </p:blipFill>
        <p:spPr>
          <a:xfrm rot="10800000" flipH="1" flipV="1">
            <a:off x="5662073" y="1646373"/>
            <a:ext cx="1354439" cy="1354439"/>
          </a:xfrm>
          <a:prstGeom prst="rect">
            <a:avLst/>
          </a:prstGeom>
        </p:spPr>
      </p:pic>
      <p:sp>
        <p:nvSpPr>
          <p:cNvPr id="26" name="TextBox 25">
            <a:extLst>
              <a:ext uri="{FF2B5EF4-FFF2-40B4-BE49-F238E27FC236}">
                <a16:creationId xmlns:a16="http://schemas.microsoft.com/office/drawing/2014/main" id="{4876226E-3E68-67E8-743E-1C2D2D4B78DA}"/>
              </a:ext>
            </a:extLst>
          </p:cNvPr>
          <p:cNvSpPr txBox="1"/>
          <p:nvPr/>
        </p:nvSpPr>
        <p:spPr>
          <a:xfrm>
            <a:off x="374929" y="5211627"/>
            <a:ext cx="4275463" cy="1384995"/>
          </a:xfrm>
          <a:prstGeom prst="rect">
            <a:avLst/>
          </a:prstGeom>
          <a:noFill/>
        </p:spPr>
        <p:txBody>
          <a:bodyPr wrap="square" rtlCol="0">
            <a:spAutoFit/>
          </a:bodyPr>
          <a:lstStyle/>
          <a:p>
            <a:pPr algn="l"/>
            <a:r>
              <a:rPr lang="en-IN" sz="2400" dirty="0"/>
              <a:t>UNDER THE GUIDANCE OF</a:t>
            </a:r>
            <a:r>
              <a:rPr lang="en-IN" dirty="0"/>
              <a:t>:</a:t>
            </a:r>
          </a:p>
          <a:p>
            <a:pPr algn="l"/>
            <a:r>
              <a:rPr lang="en-IN" sz="2000" dirty="0" err="1"/>
              <a:t>Mr.Ravikumar</a:t>
            </a:r>
            <a:r>
              <a:rPr lang="en-IN" sz="2000" dirty="0"/>
              <a:t> D</a:t>
            </a:r>
          </a:p>
          <a:p>
            <a:pPr algn="l"/>
            <a:r>
              <a:rPr lang="en-IN" sz="2000" dirty="0" err="1"/>
              <a:t>BE,M.Tech</a:t>
            </a:r>
            <a:endParaRPr lang="en-IN" sz="2000" dirty="0"/>
          </a:p>
          <a:p>
            <a:pPr algn="l"/>
            <a:r>
              <a:rPr lang="en-IN" sz="2000" dirty="0"/>
              <a:t>Assistant Professor </a:t>
            </a:r>
            <a:endParaRPr lang="en-US" sz="2000" dirty="0"/>
          </a:p>
        </p:txBody>
      </p:sp>
      <p:sp>
        <p:nvSpPr>
          <p:cNvPr id="27" name="TextBox 26">
            <a:extLst>
              <a:ext uri="{FF2B5EF4-FFF2-40B4-BE49-F238E27FC236}">
                <a16:creationId xmlns:a16="http://schemas.microsoft.com/office/drawing/2014/main" id="{55A59CEC-41C1-520A-E729-25E092223ACE}"/>
              </a:ext>
            </a:extLst>
          </p:cNvPr>
          <p:cNvSpPr txBox="1"/>
          <p:nvPr/>
        </p:nvSpPr>
        <p:spPr>
          <a:xfrm rot="10800000" flipV="1">
            <a:off x="7439781" y="5309764"/>
            <a:ext cx="4275462" cy="1046440"/>
          </a:xfrm>
          <a:prstGeom prst="rect">
            <a:avLst/>
          </a:prstGeom>
          <a:noFill/>
        </p:spPr>
        <p:txBody>
          <a:bodyPr wrap="square" rtlCol="0">
            <a:spAutoFit/>
          </a:bodyPr>
          <a:lstStyle/>
          <a:p>
            <a:pPr algn="l"/>
            <a:r>
              <a:rPr lang="en-IN" sz="2400" dirty="0"/>
              <a:t>BY</a:t>
            </a:r>
            <a:r>
              <a:rPr lang="en-IN" dirty="0"/>
              <a:t>:</a:t>
            </a:r>
          </a:p>
          <a:p>
            <a:pPr algn="l"/>
            <a:endParaRPr lang="en-IN" dirty="0"/>
          </a:p>
          <a:p>
            <a:pPr algn="l"/>
            <a:r>
              <a:rPr lang="en-IN" sz="2000" dirty="0" err="1"/>
              <a:t>Sagar</a:t>
            </a:r>
            <a:r>
              <a:rPr lang="en-IN" sz="2000" dirty="0"/>
              <a:t> C R     4MC21CS126</a:t>
            </a:r>
            <a:endParaRPr lang="en-US" sz="2000" dirty="0"/>
          </a:p>
        </p:txBody>
      </p:sp>
    </p:spTree>
    <p:extLst>
      <p:ext uri="{BB962C8B-B14F-4D97-AF65-F5344CB8AC3E}">
        <p14:creationId xmlns:p14="http://schemas.microsoft.com/office/powerpoint/2010/main" val="35648173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06712-EF4E-2DE0-F514-C233A5F7BE3A}"/>
              </a:ext>
            </a:extLst>
          </p:cNvPr>
          <p:cNvSpPr>
            <a:spLocks noGrp="1"/>
          </p:cNvSpPr>
          <p:nvPr>
            <p:ph type="title"/>
          </p:nvPr>
        </p:nvSpPr>
        <p:spPr>
          <a:xfrm>
            <a:off x="1141412" y="449760"/>
            <a:ext cx="9905998" cy="1478570"/>
          </a:xfrm>
        </p:spPr>
        <p:txBody>
          <a:bodyPr>
            <a:normAutofit/>
          </a:bodyPr>
          <a:lstStyle/>
          <a:p>
            <a:r>
              <a:rPr lang="en-IN" sz="4400" dirty="0"/>
              <a:t>Project on e-waste management </a:t>
            </a:r>
            <a:endParaRPr lang="en-US" sz="4400" dirty="0"/>
          </a:p>
        </p:txBody>
      </p:sp>
      <p:pic>
        <p:nvPicPr>
          <p:cNvPr id="4" name="Content Placeholder 3">
            <a:extLst>
              <a:ext uri="{FF2B5EF4-FFF2-40B4-BE49-F238E27FC236}">
                <a16:creationId xmlns:a16="http://schemas.microsoft.com/office/drawing/2014/main" id="{D3EEFA66-0F47-7819-DB6E-A27A56B4F700}"/>
              </a:ext>
            </a:extLst>
          </p:cNvPr>
          <p:cNvPicPr>
            <a:picLocks noGrp="1" noChangeAspect="1"/>
          </p:cNvPicPr>
          <p:nvPr>
            <p:ph idx="1"/>
          </p:nvPr>
        </p:nvPicPr>
        <p:blipFill>
          <a:blip r:embed="rId2"/>
          <a:stretch>
            <a:fillRect/>
          </a:stretch>
        </p:blipFill>
        <p:spPr>
          <a:xfrm>
            <a:off x="1604035" y="1928330"/>
            <a:ext cx="8629722" cy="4280833"/>
          </a:xfrm>
        </p:spPr>
      </p:pic>
    </p:spTree>
    <p:extLst>
      <p:ext uri="{BB962C8B-B14F-4D97-AF65-F5344CB8AC3E}">
        <p14:creationId xmlns:p14="http://schemas.microsoft.com/office/powerpoint/2010/main" val="15951858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6B684-5BF4-162A-3328-37647E2F7932}"/>
              </a:ext>
            </a:extLst>
          </p:cNvPr>
          <p:cNvSpPr>
            <a:spLocks noGrp="1"/>
          </p:cNvSpPr>
          <p:nvPr>
            <p:ph type="title"/>
          </p:nvPr>
        </p:nvSpPr>
        <p:spPr/>
        <p:txBody>
          <a:bodyPr>
            <a:normAutofit/>
          </a:bodyPr>
          <a:lstStyle/>
          <a:p>
            <a:r>
              <a:rPr lang="en-IN" sz="4400" dirty="0"/>
              <a:t>Vision and mission and </a:t>
            </a:r>
            <a:r>
              <a:rPr lang="en-IN" sz="4400" dirty="0" err="1"/>
              <a:t>statemenT</a:t>
            </a:r>
            <a:endParaRPr lang="en-US" sz="4400" dirty="0"/>
          </a:p>
        </p:txBody>
      </p:sp>
      <p:sp>
        <p:nvSpPr>
          <p:cNvPr id="3" name="Content Placeholder 2">
            <a:extLst>
              <a:ext uri="{FF2B5EF4-FFF2-40B4-BE49-F238E27FC236}">
                <a16:creationId xmlns:a16="http://schemas.microsoft.com/office/drawing/2014/main" id="{FABA16D2-7177-0545-54D3-CD5146980974}"/>
              </a:ext>
            </a:extLst>
          </p:cNvPr>
          <p:cNvSpPr>
            <a:spLocks noGrp="1"/>
          </p:cNvSpPr>
          <p:nvPr>
            <p:ph idx="1"/>
          </p:nvPr>
        </p:nvSpPr>
        <p:spPr/>
        <p:txBody>
          <a:bodyPr/>
          <a:lstStyle/>
          <a:p>
            <a:pPr marL="0" indent="0">
              <a:buNone/>
            </a:pPr>
            <a:r>
              <a:rPr lang="en-IN" sz="2800" u="sng" dirty="0"/>
              <a:t>Vision</a:t>
            </a:r>
            <a:r>
              <a:rPr lang="en-IN" dirty="0"/>
              <a:t>:</a:t>
            </a:r>
          </a:p>
          <a:p>
            <a:pPr marL="0" indent="0">
              <a:buNone/>
            </a:pPr>
            <a:r>
              <a:rPr lang="en-IN" dirty="0"/>
              <a:t>Creating a </a:t>
            </a:r>
            <a:r>
              <a:rPr lang="en-IN" dirty="0" err="1"/>
              <a:t>Cleaner,Greener</a:t>
            </a:r>
            <a:r>
              <a:rPr lang="en-IN" dirty="0"/>
              <a:t> the future by leading the way in small E-waste </a:t>
            </a:r>
            <a:r>
              <a:rPr lang="en-IN" dirty="0" err="1"/>
              <a:t>management,Ensuring</a:t>
            </a:r>
            <a:r>
              <a:rPr lang="en-IN" dirty="0"/>
              <a:t> environmental Protection and Fostering sustainable growth for communities.</a:t>
            </a:r>
          </a:p>
        </p:txBody>
      </p:sp>
      <p:pic>
        <p:nvPicPr>
          <p:cNvPr id="4" name="Picture 3">
            <a:extLst>
              <a:ext uri="{FF2B5EF4-FFF2-40B4-BE49-F238E27FC236}">
                <a16:creationId xmlns:a16="http://schemas.microsoft.com/office/drawing/2014/main" id="{D37C1E46-18DD-4EC7-0DCC-17DC01D1DE88}"/>
              </a:ext>
            </a:extLst>
          </p:cNvPr>
          <p:cNvPicPr>
            <a:picLocks noChangeAspect="1"/>
          </p:cNvPicPr>
          <p:nvPr/>
        </p:nvPicPr>
        <p:blipFill>
          <a:blip r:embed="rId2"/>
          <a:srcRect/>
          <a:stretch/>
        </p:blipFill>
        <p:spPr>
          <a:xfrm>
            <a:off x="6094411" y="4020344"/>
            <a:ext cx="4654503" cy="2457145"/>
          </a:xfrm>
          <a:prstGeom prst="rect">
            <a:avLst/>
          </a:prstGeom>
        </p:spPr>
      </p:pic>
    </p:spTree>
    <p:extLst>
      <p:ext uri="{BB962C8B-B14F-4D97-AF65-F5344CB8AC3E}">
        <p14:creationId xmlns:p14="http://schemas.microsoft.com/office/powerpoint/2010/main" val="4449237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B8D7C5-4C68-6538-375C-BFA2DDE31E37}"/>
              </a:ext>
            </a:extLst>
          </p:cNvPr>
          <p:cNvSpPr>
            <a:spLocks noGrp="1"/>
          </p:cNvSpPr>
          <p:nvPr>
            <p:ph idx="1"/>
          </p:nvPr>
        </p:nvSpPr>
        <p:spPr>
          <a:xfrm>
            <a:off x="1295807" y="158920"/>
            <a:ext cx="9217347" cy="5024309"/>
          </a:xfrm>
        </p:spPr>
        <p:txBody>
          <a:bodyPr>
            <a:normAutofit lnSpcReduction="10000"/>
          </a:bodyPr>
          <a:lstStyle/>
          <a:p>
            <a:pPr marL="0" indent="0">
              <a:buNone/>
            </a:pPr>
            <a:r>
              <a:rPr lang="en-IN" sz="3000" u="sng" dirty="0"/>
              <a:t>Mission</a:t>
            </a:r>
            <a:r>
              <a:rPr lang="en-IN" sz="5100" dirty="0"/>
              <a:t> :</a:t>
            </a:r>
          </a:p>
          <a:p>
            <a:pPr marL="0" indent="0">
              <a:buNone/>
            </a:pPr>
            <a:r>
              <a:rPr lang="en-IN" sz="2600" u="sng" dirty="0"/>
              <a:t>Collect Responsibly</a:t>
            </a:r>
            <a:r>
              <a:rPr lang="en-IN" sz="3200" u="sng" dirty="0"/>
              <a:t>:</a:t>
            </a:r>
            <a:r>
              <a:rPr lang="en-IN" dirty="0"/>
              <a:t> We gather electronic waste (like old phones and computers) carefully and safely. 
</a:t>
            </a:r>
            <a:r>
              <a:rPr lang="en-IN" sz="2600" u="sng" dirty="0"/>
              <a:t>Recycle Efficiently:</a:t>
            </a:r>
            <a:r>
              <a:rPr lang="en-IN" sz="2600" dirty="0"/>
              <a:t> </a:t>
            </a:r>
            <a:r>
              <a:rPr lang="en-IN" dirty="0"/>
              <a:t>We use smart methods to turn e-waste into useful materials without harming the environment. 
</a:t>
            </a:r>
            <a:r>
              <a:rPr lang="en-IN" sz="2600" u="sng" dirty="0"/>
              <a:t>Educate Everyone: </a:t>
            </a:r>
            <a:r>
              <a:rPr lang="en-IN" dirty="0"/>
              <a:t>We teach people about the importance of managing e-waste properly to keep our planet healthy.</a:t>
            </a:r>
          </a:p>
          <a:p>
            <a:pPr marL="0" indent="0">
              <a:buNone/>
            </a:pPr>
            <a:r>
              <a:rPr lang="en-IN" sz="2600" u="sng" dirty="0"/>
              <a:t>Create Jobs:</a:t>
            </a:r>
            <a:r>
              <a:rPr lang="en-IN" sz="2600" dirty="0"/>
              <a:t> </a:t>
            </a:r>
            <a:r>
              <a:rPr lang="en-IN" dirty="0"/>
              <a:t>We provide opportunities for people to work in e-waste management, helping communities grow. </a:t>
            </a:r>
          </a:p>
          <a:p>
            <a:pPr marL="0" indent="0">
              <a:buNone/>
            </a:pPr>
            <a:endParaRPr lang="en-IN" dirty="0"/>
          </a:p>
        </p:txBody>
      </p:sp>
      <p:pic>
        <p:nvPicPr>
          <p:cNvPr id="2" name="Picture 1">
            <a:extLst>
              <a:ext uri="{FF2B5EF4-FFF2-40B4-BE49-F238E27FC236}">
                <a16:creationId xmlns:a16="http://schemas.microsoft.com/office/drawing/2014/main" id="{C94D5BC6-28DB-4758-B610-A80771EA0ED6}"/>
              </a:ext>
            </a:extLst>
          </p:cNvPr>
          <p:cNvPicPr>
            <a:picLocks noChangeAspect="1"/>
          </p:cNvPicPr>
          <p:nvPr/>
        </p:nvPicPr>
        <p:blipFill>
          <a:blip r:embed="rId2"/>
          <a:srcRect/>
          <a:stretch/>
        </p:blipFill>
        <p:spPr>
          <a:xfrm>
            <a:off x="7970437" y="4702649"/>
            <a:ext cx="3549210" cy="1996431"/>
          </a:xfrm>
          <a:prstGeom prst="rect">
            <a:avLst/>
          </a:prstGeom>
        </p:spPr>
      </p:pic>
    </p:spTree>
    <p:extLst>
      <p:ext uri="{BB962C8B-B14F-4D97-AF65-F5344CB8AC3E}">
        <p14:creationId xmlns:p14="http://schemas.microsoft.com/office/powerpoint/2010/main" val="586173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E33CE2E-22FF-FE9C-C1D4-16FFCBAAFA46}"/>
              </a:ext>
            </a:extLst>
          </p:cNvPr>
          <p:cNvSpPr txBox="1"/>
          <p:nvPr/>
        </p:nvSpPr>
        <p:spPr>
          <a:xfrm>
            <a:off x="1047360" y="1951357"/>
            <a:ext cx="5120175" cy="1754326"/>
          </a:xfrm>
          <a:prstGeom prst="rect">
            <a:avLst/>
          </a:prstGeom>
          <a:noFill/>
        </p:spPr>
        <p:txBody>
          <a:bodyPr wrap="square">
            <a:spAutoFit/>
          </a:bodyPr>
          <a:lstStyle/>
          <a:p>
            <a:r>
              <a:rPr lang="en-US" b="1" i="0" u="sng" dirty="0">
                <a:effectLst/>
                <a:latin typeface="Times New Roman" panose="02020603050405020304" pitchFamily="18" charset="0"/>
                <a:cs typeface="Times New Roman" panose="02020603050405020304" pitchFamily="18" charset="0"/>
              </a:rPr>
              <a:t>What Is e-waste ?</a:t>
            </a:r>
          </a:p>
          <a:p>
            <a:endParaRPr lang="en-US" b="0" i="0" dirty="0">
              <a:effectLst/>
              <a:latin typeface="Times New Roman" panose="02020603050405020304" pitchFamily="18" charset="0"/>
              <a:cs typeface="Times New Roman" panose="02020603050405020304" pitchFamily="18" charset="0"/>
            </a:endParaRPr>
          </a:p>
          <a:p>
            <a:r>
              <a:rPr lang="en-US" b="0" i="0" dirty="0">
                <a:effectLst/>
                <a:latin typeface="Times New Roman" panose="02020603050405020304" pitchFamily="18" charset="0"/>
                <a:cs typeface="Times New Roman" panose="02020603050405020304" pitchFamily="18" charset="0"/>
              </a:rPr>
              <a:t>E-waste is electronic products that are unwanted, not working, and nearing or at the end of their “useful life.” Computers, televisions, VCRs, stereos, copiers, and fax machines are everyday electronic products.</a:t>
            </a:r>
            <a:endParaRPr lang="en-IN" dirty="0">
              <a:latin typeface="Times New Roman" panose="02020603050405020304" pitchFamily="18" charset="0"/>
              <a:cs typeface="Times New Roman" panose="02020603050405020304" pitchFamily="18" charset="0"/>
            </a:endParaRPr>
          </a:p>
        </p:txBody>
      </p:sp>
      <p:pic>
        <p:nvPicPr>
          <p:cNvPr id="2050" name="Picture 2" descr="Laptop Recycling Melbourne - A-Tech Computer Recyclers">
            <a:extLst>
              <a:ext uri="{FF2B5EF4-FFF2-40B4-BE49-F238E27FC236}">
                <a16:creationId xmlns:a16="http://schemas.microsoft.com/office/drawing/2014/main" id="{A6A8615D-97CF-C4DE-5874-EA13235144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36288" y="1736753"/>
            <a:ext cx="4791075" cy="464538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E3A74779-7FED-20B4-09EC-2D65C807719B}"/>
              </a:ext>
            </a:extLst>
          </p:cNvPr>
          <p:cNvSpPr txBox="1"/>
          <p:nvPr/>
        </p:nvSpPr>
        <p:spPr>
          <a:xfrm>
            <a:off x="1047360" y="3993617"/>
            <a:ext cx="5418753" cy="2031325"/>
          </a:xfrm>
          <a:prstGeom prst="rect">
            <a:avLst/>
          </a:prstGeom>
          <a:noFill/>
        </p:spPr>
        <p:txBody>
          <a:bodyPr wrap="square">
            <a:spAutoFit/>
          </a:bodyPr>
          <a:lstStyle/>
          <a:p>
            <a:r>
              <a:rPr lang="en-US" b="0" i="0" dirty="0">
                <a:effectLst/>
                <a:latin typeface="Times New Roman" panose="02020603050405020304" pitchFamily="18" charset="0"/>
                <a:cs typeface="Times New Roman" panose="02020603050405020304" pitchFamily="18" charset="0"/>
              </a:rPr>
              <a:t>Electronic waste or e-waste refers to discarded electric appliances.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Each year, about 50 to 60 million tons of e-waste are generated, equivalent to only 2-3% of annual global waste </a:t>
            </a:r>
            <a:r>
              <a:rPr lang="en-US" b="0" i="0" dirty="0">
                <a:effectLst/>
                <a:latin typeface="Times New Roman" panose="02020603050405020304" pitchFamily="18" charset="0"/>
                <a:cs typeface="Times New Roman" panose="02020603050405020304" pitchFamily="18" charset="0"/>
              </a:rPr>
              <a:t>. </a:t>
            </a:r>
          </a:p>
          <a:p>
            <a:endParaRPr lang="en-US" dirty="0">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523076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AA034FE-546F-B59C-7CDE-DAEFE7DEAA4A}"/>
              </a:ext>
            </a:extLst>
          </p:cNvPr>
          <p:cNvSpPr txBox="1"/>
          <p:nvPr/>
        </p:nvSpPr>
        <p:spPr>
          <a:xfrm>
            <a:off x="1056692" y="791757"/>
            <a:ext cx="10587912" cy="6278642"/>
          </a:xfrm>
          <a:prstGeom prst="rect">
            <a:avLst/>
          </a:prstGeom>
          <a:noFill/>
        </p:spPr>
        <p:txBody>
          <a:bodyPr wrap="square">
            <a:spAutoFit/>
          </a:bodyPr>
          <a:lstStyle/>
          <a:p>
            <a:pPr algn="l"/>
            <a:r>
              <a:rPr lang="en-US" b="1" i="0" u="sng" dirty="0">
                <a:effectLst/>
                <a:latin typeface="Times New Roman" panose="02020603050405020304" pitchFamily="18" charset="0"/>
                <a:cs typeface="Times New Roman" panose="02020603050405020304" pitchFamily="18" charset="0"/>
              </a:rPr>
              <a:t>Importance of e-waste recycling </a:t>
            </a:r>
            <a:r>
              <a:rPr lang="en-US" b="0" i="0" dirty="0">
                <a:effectLst/>
                <a:latin typeface="Times New Roman" panose="02020603050405020304" pitchFamily="18" charset="0"/>
                <a:cs typeface="Times New Roman" panose="02020603050405020304" pitchFamily="18" charset="0"/>
              </a:rPr>
              <a:t>:-</a:t>
            </a:r>
          </a:p>
          <a:p>
            <a:pPr algn="l"/>
            <a:endParaRPr lang="en-US" b="0" i="0" dirty="0">
              <a:effectLst/>
              <a:latin typeface="Times New Roman" panose="02020603050405020304" pitchFamily="18" charset="0"/>
              <a:cs typeface="Times New Roman" panose="02020603050405020304" pitchFamily="18" charset="0"/>
            </a:endParaRPr>
          </a:p>
          <a:p>
            <a:pPr algn="just" fontAlgn="base"/>
            <a:r>
              <a:rPr lang="en-US" b="1" i="0" u="sng" dirty="0">
                <a:effectLst/>
                <a:latin typeface="Times New Roman" panose="02020603050405020304" pitchFamily="18" charset="0"/>
                <a:cs typeface="Times New Roman" panose="02020603050405020304" pitchFamily="18" charset="0"/>
              </a:rPr>
              <a:t>Decrease Raw Material Demand</a:t>
            </a:r>
          </a:p>
          <a:p>
            <a:pPr algn="just" fontAlgn="base"/>
            <a:r>
              <a:rPr lang="en-US" b="0" i="0" dirty="0">
                <a:effectLst/>
                <a:latin typeface="Times New Roman" panose="02020603050405020304" pitchFamily="18" charset="0"/>
                <a:cs typeface="Times New Roman" panose="02020603050405020304" pitchFamily="18" charset="0"/>
              </a:rPr>
              <a:t>Reclaiming estimable elements from the recycling process can help to decrease the demand for raw materials. It helps conserve essential natural resources.</a:t>
            </a:r>
          </a:p>
          <a:p>
            <a:pPr algn="just" fontAlgn="base"/>
            <a:endParaRPr lang="en-US" dirty="0">
              <a:latin typeface="Times New Roman" panose="02020603050405020304" pitchFamily="18" charset="0"/>
              <a:cs typeface="Times New Roman" panose="02020603050405020304" pitchFamily="18" charset="0"/>
            </a:endParaRPr>
          </a:p>
          <a:p>
            <a:pPr algn="just" fontAlgn="base"/>
            <a:r>
              <a:rPr lang="en-US" b="1" i="0" u="sng" dirty="0">
                <a:effectLst/>
                <a:latin typeface="Times New Roman" panose="02020603050405020304" pitchFamily="18" charset="0"/>
                <a:cs typeface="Times New Roman" panose="02020603050405020304" pitchFamily="18" charset="0"/>
              </a:rPr>
              <a:t>Reduce Greenhouse Gas Emissions</a:t>
            </a:r>
          </a:p>
          <a:p>
            <a:pPr algn="just" fontAlgn="base"/>
            <a:r>
              <a:rPr lang="en-US" b="0" i="0" dirty="0">
                <a:effectLst/>
                <a:latin typeface="Times New Roman" panose="02020603050405020304" pitchFamily="18" charset="0"/>
                <a:cs typeface="Times New Roman" panose="02020603050405020304" pitchFamily="18" charset="0"/>
              </a:rPr>
              <a:t>You might be unaware of the reality that using a recycled substance can decrease greenhouse gas emissions. It is mainly produced while manufacturing new products, which result in increasing global warming and climate change. </a:t>
            </a:r>
          </a:p>
          <a:p>
            <a:pPr algn="just" fontAlgn="base"/>
            <a:endParaRPr lang="en-US" b="0" i="0" dirty="0">
              <a:effectLst/>
              <a:latin typeface="Times New Roman" panose="02020603050405020304" pitchFamily="18" charset="0"/>
              <a:cs typeface="Times New Roman" panose="02020603050405020304" pitchFamily="18" charset="0"/>
            </a:endParaRPr>
          </a:p>
          <a:p>
            <a:pPr algn="just" fontAlgn="base"/>
            <a:r>
              <a:rPr lang="en-US" b="1" i="0" u="sng" dirty="0">
                <a:effectLst/>
                <a:latin typeface="Times New Roman" panose="02020603050405020304" pitchFamily="18" charset="0"/>
                <a:cs typeface="Times New Roman" panose="02020603050405020304" pitchFamily="18" charset="0"/>
              </a:rPr>
              <a:t>Support Non-renewable Recycling</a:t>
            </a:r>
          </a:p>
          <a:p>
            <a:pPr algn="just" fontAlgn="base"/>
            <a:r>
              <a:rPr lang="en-US" b="0" i="0" dirty="0">
                <a:effectLst/>
                <a:latin typeface="Times New Roman" panose="02020603050405020304" pitchFamily="18" charset="0"/>
                <a:cs typeface="Times New Roman" panose="02020603050405020304" pitchFamily="18" charset="0"/>
              </a:rPr>
              <a:t>The increasing demand for modern appliances means a range of elements and other non-renewable sources must be excavated and concocted.</a:t>
            </a:r>
          </a:p>
          <a:p>
            <a:pPr algn="just" fontAlgn="base"/>
            <a:endParaRPr lang="en-US" dirty="0">
              <a:latin typeface="Times New Roman" panose="02020603050405020304" pitchFamily="18" charset="0"/>
              <a:cs typeface="Times New Roman" panose="02020603050405020304" pitchFamily="18" charset="0"/>
            </a:endParaRPr>
          </a:p>
          <a:p>
            <a:pPr algn="just" fontAlgn="base"/>
            <a:r>
              <a:rPr lang="en-US" b="1" i="0" u="sng" dirty="0">
                <a:effectLst/>
                <a:latin typeface="Times New Roman" panose="02020603050405020304" pitchFamily="18" charset="0"/>
                <a:cs typeface="Times New Roman" panose="02020603050405020304" pitchFamily="18" charset="0"/>
              </a:rPr>
              <a:t>Reduce Costs</a:t>
            </a:r>
          </a:p>
          <a:p>
            <a:pPr algn="just" fontAlgn="base"/>
            <a:r>
              <a:rPr lang="en-US" b="0" i="0" dirty="0">
                <a:effectLst/>
                <a:latin typeface="Times New Roman" panose="02020603050405020304" pitchFamily="18" charset="0"/>
                <a:cs typeface="Times New Roman" panose="02020603050405020304" pitchFamily="18" charset="0"/>
              </a:rPr>
              <a:t>E-waste recycling is undoubtedly good for the environment but also good for brands. Most countries have incentivized e-waste recycling by lifting the price of dropping or ultimately preventing it.</a:t>
            </a:r>
          </a:p>
          <a:p>
            <a:pPr algn="just" fontAlgn="base"/>
            <a:endParaRPr lang="en-US" b="0" i="0" dirty="0">
              <a:effectLst/>
              <a:latin typeface="Times New Roman" panose="02020603050405020304" pitchFamily="18" charset="0"/>
              <a:cs typeface="Times New Roman" panose="02020603050405020304" pitchFamily="18" charset="0"/>
            </a:endParaRPr>
          </a:p>
          <a:p>
            <a:pPr algn="just" fontAlgn="base"/>
            <a:r>
              <a:rPr lang="en-US"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and  many more…</a:t>
            </a:r>
            <a:endParaRPr lang="en-US" sz="2400" b="0" i="0" dirty="0">
              <a:effectLst/>
              <a:latin typeface="Times New Roman" panose="02020603050405020304" pitchFamily="18" charset="0"/>
              <a:cs typeface="Times New Roman" panose="02020603050405020304" pitchFamily="18" charset="0"/>
            </a:endParaRPr>
          </a:p>
          <a:p>
            <a:pPr algn="l"/>
            <a:endParaRPr lang="en-US" b="0" i="0" dirty="0">
              <a:effectLst/>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4" name="AutoShape 4" descr="Global Ewaste">
            <a:extLst>
              <a:ext uri="{FF2B5EF4-FFF2-40B4-BE49-F238E27FC236}">
                <a16:creationId xmlns:a16="http://schemas.microsoft.com/office/drawing/2014/main" id="{10B7F85A-4546-2B36-F60B-AF0F9D77A968}"/>
              </a:ext>
            </a:extLst>
          </p:cNvPr>
          <p:cNvSpPr>
            <a:spLocks noChangeAspect="1" noChangeArrowheads="1"/>
          </p:cNvSpPr>
          <p:nvPr/>
        </p:nvSpPr>
        <p:spPr bwMode="auto">
          <a:xfrm>
            <a:off x="5943599" y="3276600"/>
            <a:ext cx="4590661"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460522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89FA265-4A53-C422-8CEE-37CBFFAA0E2D}"/>
              </a:ext>
            </a:extLst>
          </p:cNvPr>
          <p:cNvSpPr txBox="1"/>
          <p:nvPr/>
        </p:nvSpPr>
        <p:spPr>
          <a:xfrm>
            <a:off x="1114618" y="804179"/>
            <a:ext cx="10168035" cy="1754326"/>
          </a:xfrm>
          <a:prstGeom prst="rect">
            <a:avLst/>
          </a:prstGeom>
          <a:noFill/>
        </p:spPr>
        <p:txBody>
          <a:bodyPr wrap="square">
            <a:spAutoFit/>
          </a:bodyPr>
          <a:lstStyle/>
          <a:p>
            <a:pPr algn="l"/>
            <a:endParaRPr lang="en-US" b="0" i="0" dirty="0">
              <a:solidFill>
                <a:srgbClr val="111111"/>
              </a:solidFill>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b="0" i="0" dirty="0">
                <a:effectLst/>
                <a:latin typeface="Times New Roman" panose="02020603050405020304" pitchFamily="18" charset="0"/>
                <a:cs typeface="Times New Roman" panose="02020603050405020304" pitchFamily="18" charset="0"/>
              </a:rPr>
              <a:t>India generates about 1.85 million </a:t>
            </a:r>
            <a:r>
              <a:rPr lang="en-US" b="0" i="0" dirty="0" err="1">
                <a:effectLst/>
                <a:latin typeface="Times New Roman" panose="02020603050405020304" pitchFamily="18" charset="0"/>
                <a:cs typeface="Times New Roman" panose="02020603050405020304" pitchFamily="18" charset="0"/>
              </a:rPr>
              <a:t>tonnes</a:t>
            </a:r>
            <a:r>
              <a:rPr lang="en-US" b="0" i="0" dirty="0">
                <a:effectLst/>
                <a:latin typeface="Times New Roman" panose="02020603050405020304" pitchFamily="18" charset="0"/>
                <a:cs typeface="Times New Roman" panose="02020603050405020304" pitchFamily="18" charset="0"/>
              </a:rPr>
              <a:t> of e-waste annually.</a:t>
            </a:r>
          </a:p>
          <a:p>
            <a:pPr marL="285750" indent="-285750" algn="l">
              <a:buFont typeface="Wingdings" panose="05000000000000000000" pitchFamily="2" charset="2"/>
              <a:buChar char="Ø"/>
            </a:pPr>
            <a:endParaRPr lang="en-US" b="0" i="0" dirty="0">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b="0" i="0" dirty="0">
                <a:effectLst/>
                <a:latin typeface="Times New Roman" panose="02020603050405020304" pitchFamily="18" charset="0"/>
                <a:cs typeface="Times New Roman" panose="02020603050405020304" pitchFamily="18" charset="0"/>
              </a:rPr>
              <a:t>India ranks fifth in the world among top e-waste producing countries.</a:t>
            </a:r>
          </a:p>
          <a:p>
            <a:pPr marL="285750" indent="-285750" algn="l">
              <a:buFont typeface="Wingdings" panose="05000000000000000000" pitchFamily="2" charset="2"/>
              <a:buChar char="Ø"/>
            </a:pPr>
            <a:endParaRPr lang="en-US" b="0" i="0" dirty="0">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b="0" i="0" dirty="0">
                <a:effectLst/>
                <a:latin typeface="Times New Roman" panose="02020603050405020304" pitchFamily="18" charset="0"/>
                <a:cs typeface="Times New Roman" panose="02020603050405020304" pitchFamily="18" charset="0"/>
              </a:rPr>
              <a:t>95 per cent of India's e-waste comes from the </a:t>
            </a:r>
            <a:r>
              <a:rPr lang="en-US" b="0" i="0" dirty="0" err="1">
                <a:effectLst/>
                <a:latin typeface="Times New Roman" panose="02020603050405020304" pitchFamily="18" charset="0"/>
                <a:cs typeface="Times New Roman" panose="02020603050405020304" pitchFamily="18" charset="0"/>
              </a:rPr>
              <a:t>unorganised</a:t>
            </a:r>
            <a:r>
              <a:rPr lang="en-US" b="0" i="0" dirty="0">
                <a:effectLst/>
                <a:latin typeface="Times New Roman" panose="02020603050405020304" pitchFamily="18" charset="0"/>
                <a:cs typeface="Times New Roman" panose="02020603050405020304" pitchFamily="18" charset="0"/>
              </a:rPr>
              <a:t> sector.</a:t>
            </a:r>
          </a:p>
        </p:txBody>
      </p:sp>
      <p:sp>
        <p:nvSpPr>
          <p:cNvPr id="5" name="TextBox 4">
            <a:extLst>
              <a:ext uri="{FF2B5EF4-FFF2-40B4-BE49-F238E27FC236}">
                <a16:creationId xmlns:a16="http://schemas.microsoft.com/office/drawing/2014/main" id="{FDBF97FE-3B03-EF02-5371-0DCA04D8A6EE}"/>
              </a:ext>
            </a:extLst>
          </p:cNvPr>
          <p:cNvSpPr txBox="1"/>
          <p:nvPr/>
        </p:nvSpPr>
        <p:spPr>
          <a:xfrm>
            <a:off x="2941476" y="342514"/>
            <a:ext cx="6106884" cy="461665"/>
          </a:xfrm>
          <a:prstGeom prst="rect">
            <a:avLst/>
          </a:prstGeom>
          <a:noFill/>
        </p:spPr>
        <p:txBody>
          <a:bodyPr wrap="square">
            <a:spAutoFit/>
          </a:bodyPr>
          <a:lstStyle/>
          <a:p>
            <a:pPr algn="ctr"/>
            <a:r>
              <a:rPr lang="en-US" sz="2400" b="0" i="0" u="sng" dirty="0">
                <a:effectLst/>
                <a:latin typeface="Times New Roman" panose="02020603050405020304" pitchFamily="18" charset="0"/>
                <a:cs typeface="Times New Roman" panose="02020603050405020304" pitchFamily="18" charset="0"/>
              </a:rPr>
              <a:t>Market Analysis :-</a:t>
            </a:r>
          </a:p>
        </p:txBody>
      </p:sp>
      <p:pic>
        <p:nvPicPr>
          <p:cNvPr id="1026" name="Picture 2" descr="E waste Growth in India Year wise (Source: Information technology ...">
            <a:extLst>
              <a:ext uri="{FF2B5EF4-FFF2-40B4-BE49-F238E27FC236}">
                <a16:creationId xmlns:a16="http://schemas.microsoft.com/office/drawing/2014/main" id="{435FA55F-FAA7-EB4D-55E6-2AC41B5508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7875" y="3020170"/>
            <a:ext cx="8096250" cy="35203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26508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DE7E83F-200D-6959-64BC-691579F34F1E}"/>
              </a:ext>
            </a:extLst>
          </p:cNvPr>
          <p:cNvSpPr txBox="1"/>
          <p:nvPr/>
        </p:nvSpPr>
        <p:spPr>
          <a:xfrm>
            <a:off x="1448578" y="569368"/>
            <a:ext cx="9738826" cy="646331"/>
          </a:xfrm>
          <a:prstGeom prst="rect">
            <a:avLst/>
          </a:prstGeom>
          <a:noFill/>
        </p:spPr>
        <p:txBody>
          <a:bodyPr wrap="square">
            <a:spAutoFit/>
          </a:bodyPr>
          <a:lstStyle/>
          <a:p>
            <a:r>
              <a:rPr lang="en-US" b="0" i="0" dirty="0">
                <a:effectLst/>
                <a:latin typeface="Times New Roman" panose="02020603050405020304" pitchFamily="18" charset="0"/>
                <a:cs typeface="Times New Roman" panose="02020603050405020304" pitchFamily="18" charset="0"/>
              </a:rPr>
              <a:t>In India, the amount of e-waste generated differs by state. The three states that produce the most e-waste are as follows: </a:t>
            </a:r>
            <a:r>
              <a:rPr lang="en-US" b="0" i="0" strike="noStrike" dirty="0">
                <a:effectLst/>
                <a:latin typeface="Times New Roman" panose="02020603050405020304" pitchFamily="18" charset="0"/>
                <a:cs typeface="Times New Roman" panose="02020603050405020304" pitchFamily="18" charset="0"/>
                <a:hlinkClick r:id="rId2" tooltip="Maharashtra">
                  <a:extLst>
                    <a:ext uri="{A12FA001-AC4F-418D-AE19-62706E023703}">
                      <ahyp:hlinkClr xmlns:ahyp="http://schemas.microsoft.com/office/drawing/2018/hyperlinkcolor" val="tx"/>
                    </a:ext>
                  </a:extLst>
                </a:hlinkClick>
              </a:rPr>
              <a:t>Maharashtra</a:t>
            </a:r>
            <a:r>
              <a:rPr lang="en-US" b="0" i="0" dirty="0">
                <a:effectLst/>
                <a:latin typeface="Times New Roman" panose="02020603050405020304" pitchFamily="18" charset="0"/>
                <a:cs typeface="Times New Roman" panose="02020603050405020304" pitchFamily="18" charset="0"/>
              </a:rPr>
              <a:t>, </a:t>
            </a:r>
            <a:r>
              <a:rPr lang="en-US" b="0" i="0" strike="noStrike" dirty="0">
                <a:effectLst/>
                <a:latin typeface="Times New Roman" panose="02020603050405020304" pitchFamily="18" charset="0"/>
                <a:cs typeface="Times New Roman" panose="02020603050405020304" pitchFamily="18" charset="0"/>
                <a:hlinkClick r:id="rId3" tooltip="Tamil Nadu">
                  <a:extLst>
                    <a:ext uri="{A12FA001-AC4F-418D-AE19-62706E023703}">
                      <ahyp:hlinkClr xmlns:ahyp="http://schemas.microsoft.com/office/drawing/2018/hyperlinkcolor" val="tx"/>
                    </a:ext>
                  </a:extLst>
                </a:hlinkClick>
              </a:rPr>
              <a:t>Tamil Nadu</a:t>
            </a:r>
            <a:r>
              <a:rPr lang="en-US" b="0" i="0" dirty="0">
                <a:effectLst/>
                <a:latin typeface="Times New Roman" panose="02020603050405020304" pitchFamily="18" charset="0"/>
                <a:cs typeface="Times New Roman" panose="02020603050405020304" pitchFamily="18" charset="0"/>
              </a:rPr>
              <a:t> and </a:t>
            </a:r>
            <a:r>
              <a:rPr lang="en-US" b="0" i="0" strike="noStrike" dirty="0">
                <a:effectLst/>
                <a:latin typeface="Times New Roman" panose="02020603050405020304" pitchFamily="18" charset="0"/>
                <a:cs typeface="Times New Roman" panose="02020603050405020304" pitchFamily="18" charset="0"/>
                <a:hlinkClick r:id="rId4" tooltip="Andhra Pradesh">
                  <a:extLst>
                    <a:ext uri="{A12FA001-AC4F-418D-AE19-62706E023703}">
                      <ahyp:hlinkClr xmlns:ahyp="http://schemas.microsoft.com/office/drawing/2018/hyperlinkcolor" val="tx"/>
                    </a:ext>
                  </a:extLst>
                </a:hlinkClick>
              </a:rPr>
              <a:t>Andhra Pradesh</a:t>
            </a:r>
            <a:r>
              <a:rPr lang="en-US" b="0" i="0" dirty="0">
                <a:effectLst/>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pic>
        <p:nvPicPr>
          <p:cNvPr id="2050" name="Picture 2">
            <a:extLst>
              <a:ext uri="{FF2B5EF4-FFF2-40B4-BE49-F238E27FC236}">
                <a16:creationId xmlns:a16="http://schemas.microsoft.com/office/drawing/2014/main" id="{889F1088-8EF5-2F00-9D84-449F87AFF46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48578" y="1654239"/>
            <a:ext cx="9545216" cy="216859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D45889D-82A9-7EFF-6191-C297C9C2D752}"/>
              </a:ext>
            </a:extLst>
          </p:cNvPr>
          <p:cNvSpPr txBox="1"/>
          <p:nvPr/>
        </p:nvSpPr>
        <p:spPr>
          <a:xfrm>
            <a:off x="1448578" y="4261370"/>
            <a:ext cx="9738826" cy="646331"/>
          </a:xfrm>
          <a:prstGeom prst="rect">
            <a:avLst/>
          </a:prstGeom>
          <a:noFill/>
        </p:spPr>
        <p:txBody>
          <a:bodyPr wrap="square">
            <a:spAutoFit/>
          </a:bodyPr>
          <a:lstStyle/>
          <a:p>
            <a:r>
              <a:rPr lang="en-US" u="sng" dirty="0">
                <a:latin typeface="Times New Roman" panose="02020603050405020304" pitchFamily="18" charset="0"/>
                <a:cs typeface="Times New Roman" panose="02020603050405020304" pitchFamily="18" charset="0"/>
              </a:rPr>
              <a:t>Market size </a:t>
            </a:r>
            <a:r>
              <a:rPr lang="en-US" dirty="0">
                <a:latin typeface="Times New Roman" panose="02020603050405020304" pitchFamily="18" charset="0"/>
                <a:cs typeface="Times New Roman" panose="02020603050405020304" pitchFamily="18" charset="0"/>
              </a:rPr>
              <a:t>: The potential market for e-waste recycling services for small scale industry in </a:t>
            </a:r>
            <a:r>
              <a:rPr lang="en-US" dirty="0" err="1">
                <a:latin typeface="Times New Roman" panose="02020603050405020304" pitchFamily="18" charset="0"/>
                <a:cs typeface="Times New Roman" panose="02020603050405020304" pitchFamily="18" charset="0"/>
              </a:rPr>
              <a:t>india</a:t>
            </a:r>
            <a:r>
              <a:rPr lang="en-US" dirty="0">
                <a:latin typeface="Times New Roman" panose="02020603050405020304" pitchFamily="18" charset="0"/>
                <a:cs typeface="Times New Roman" panose="02020603050405020304" pitchFamily="18" charset="0"/>
              </a:rPr>
              <a:t> is estimated at INR of  1.5 crores  by 2025.</a:t>
            </a:r>
            <a:endParaRPr lang="en-IN" dirty="0"/>
          </a:p>
        </p:txBody>
      </p:sp>
      <p:sp>
        <p:nvSpPr>
          <p:cNvPr id="9" name="TextBox 8">
            <a:extLst>
              <a:ext uri="{FF2B5EF4-FFF2-40B4-BE49-F238E27FC236}">
                <a16:creationId xmlns:a16="http://schemas.microsoft.com/office/drawing/2014/main" id="{8F6F5674-F08E-71FC-A197-A0E895CFA234}"/>
              </a:ext>
            </a:extLst>
          </p:cNvPr>
          <p:cNvSpPr txBox="1"/>
          <p:nvPr/>
        </p:nvSpPr>
        <p:spPr>
          <a:xfrm>
            <a:off x="1448578" y="5446468"/>
            <a:ext cx="9300287" cy="646331"/>
          </a:xfrm>
          <a:prstGeom prst="rect">
            <a:avLst/>
          </a:prstGeom>
          <a:noFill/>
        </p:spPr>
        <p:txBody>
          <a:bodyPr wrap="square">
            <a:spAutoFit/>
          </a:bodyPr>
          <a:lstStyle/>
          <a:p>
            <a:r>
              <a:rPr lang="en-IN" u="sng" dirty="0">
                <a:latin typeface="Times New Roman" panose="02020603050405020304" pitchFamily="18" charset="0"/>
                <a:cs typeface="Times New Roman" panose="02020603050405020304" pitchFamily="18" charset="0"/>
              </a:rPr>
              <a:t>Target Demographics</a:t>
            </a:r>
            <a:r>
              <a:rPr lang="en-IN" dirty="0">
                <a:latin typeface="Times New Roman" panose="02020603050405020304" pitchFamily="18" charset="0"/>
                <a:cs typeface="Times New Roman" panose="02020603050405020304" pitchFamily="18" charset="0"/>
              </a:rPr>
              <a:t>: Industries like IT, telecommunications, and consumer electronics contribute significantly in India.</a:t>
            </a:r>
          </a:p>
        </p:txBody>
      </p:sp>
    </p:spTree>
    <p:extLst>
      <p:ext uri="{BB962C8B-B14F-4D97-AF65-F5344CB8AC3E}">
        <p14:creationId xmlns:p14="http://schemas.microsoft.com/office/powerpoint/2010/main" val="19140706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00BC8EE-BC70-F4C0-DC2B-5BF9D2A9BED4}"/>
              </a:ext>
            </a:extLst>
          </p:cNvPr>
          <p:cNvSpPr txBox="1"/>
          <p:nvPr/>
        </p:nvSpPr>
        <p:spPr>
          <a:xfrm>
            <a:off x="1685896" y="306245"/>
            <a:ext cx="9927772" cy="3600986"/>
          </a:xfrm>
          <a:prstGeom prst="rect">
            <a:avLst/>
          </a:prstGeom>
          <a:noFill/>
        </p:spPr>
        <p:txBody>
          <a:bodyPr wrap="square">
            <a:spAutoFit/>
          </a:bodyPr>
          <a:lstStyle/>
          <a:p>
            <a:pPr algn="ctr"/>
            <a:r>
              <a:rPr lang="en-US" sz="2400" u="sng" dirty="0">
                <a:latin typeface="Times New Roman" panose="02020603050405020304" pitchFamily="18" charset="0"/>
                <a:cs typeface="Times New Roman" panose="02020603050405020304" pitchFamily="18" charset="0"/>
              </a:rPr>
              <a:t>Business Model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We collects e-waste from businesses and individuals, processes it in our advanced facilities, and sells recovered materials. </a:t>
            </a:r>
          </a:p>
          <a:p>
            <a:endParaRPr lang="en-US" dirty="0">
              <a:latin typeface="Times New Roman" panose="02020603050405020304" pitchFamily="18" charset="0"/>
              <a:cs typeface="Times New Roman" panose="02020603050405020304" pitchFamily="18" charset="0"/>
            </a:endParaRPr>
          </a:p>
          <a:p>
            <a:pPr algn="ctr"/>
            <a:r>
              <a:rPr lang="en-US" sz="2400" u="sng" dirty="0">
                <a:latin typeface="Times New Roman" panose="02020603050405020304" pitchFamily="18" charset="0"/>
                <a:cs typeface="Times New Roman" panose="02020603050405020304" pitchFamily="18" charset="0"/>
              </a:rPr>
              <a:t>Revenue Streams: How to get an income?</a:t>
            </a:r>
          </a:p>
          <a:p>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 Service fees from businesses, resale of recovered materials.</a:t>
            </a:r>
          </a:p>
          <a:p>
            <a:pPr marL="285750" indent="-285750">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 partnerships with Indian electronics manufacturers. </a:t>
            </a:r>
          </a:p>
          <a:p>
            <a:pPr marL="285750" indent="-285750">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1026" name="Picture 2" descr="An Overview of the E-Waste Recycling Business - Enterslice">
            <a:extLst>
              <a:ext uri="{FF2B5EF4-FFF2-40B4-BE49-F238E27FC236}">
                <a16:creationId xmlns:a16="http://schemas.microsoft.com/office/drawing/2014/main" id="{29607BBE-611F-39A6-8E44-F635835B92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34333" y="3601616"/>
            <a:ext cx="6145569" cy="31801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08947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81BF0A1-CDB9-0980-AA2F-C70722BD2E29}"/>
              </a:ext>
            </a:extLst>
          </p:cNvPr>
          <p:cNvSpPr txBox="1"/>
          <p:nvPr/>
        </p:nvSpPr>
        <p:spPr>
          <a:xfrm>
            <a:off x="1681842" y="866488"/>
            <a:ext cx="8675137" cy="1015663"/>
          </a:xfrm>
          <a:prstGeom prst="rect">
            <a:avLst/>
          </a:prstGeom>
          <a:noFill/>
        </p:spPr>
        <p:txBody>
          <a:bodyPr wrap="square">
            <a:spAutoFit/>
          </a:bodyPr>
          <a:lstStyle/>
          <a:p>
            <a:pPr algn="ctr"/>
            <a:r>
              <a:rPr lang="en-US" sz="2400" u="sng" dirty="0">
                <a:latin typeface="Times New Roman" panose="02020603050405020304" pitchFamily="18" charset="0"/>
                <a:cs typeface="Times New Roman" panose="02020603050405020304" pitchFamily="18" charset="0"/>
              </a:rPr>
              <a:t>Partnerships:</a:t>
            </a:r>
          </a:p>
          <a:p>
            <a:pPr algn="ct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Collaborating with major Indian electronics retailers for responsible disposal and recycling.</a:t>
            </a:r>
            <a:endParaRPr lang="en-IN" dirty="0"/>
          </a:p>
        </p:txBody>
      </p:sp>
      <p:sp>
        <p:nvSpPr>
          <p:cNvPr id="5" name="TextBox 4">
            <a:extLst>
              <a:ext uri="{FF2B5EF4-FFF2-40B4-BE49-F238E27FC236}">
                <a16:creationId xmlns:a16="http://schemas.microsoft.com/office/drawing/2014/main" id="{B6DFE603-3F1D-F715-4A13-1BB7E11F1208}"/>
              </a:ext>
            </a:extLst>
          </p:cNvPr>
          <p:cNvSpPr txBox="1"/>
          <p:nvPr/>
        </p:nvSpPr>
        <p:spPr>
          <a:xfrm>
            <a:off x="1782925" y="1938048"/>
            <a:ext cx="6866553" cy="1754326"/>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Indian electronics retailers  are like most  e-commerce companies :-</a:t>
            </a:r>
          </a:p>
          <a:p>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Amazon</a:t>
            </a:r>
          </a:p>
          <a:p>
            <a:pPr marL="285750" indent="-2857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Apple</a:t>
            </a:r>
          </a:p>
          <a:p>
            <a:pPr marL="285750" indent="-2857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Croma</a:t>
            </a:r>
          </a:p>
          <a:p>
            <a:pPr marL="285750" indent="-2857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Reliance digital</a:t>
            </a:r>
          </a:p>
        </p:txBody>
      </p:sp>
      <p:pic>
        <p:nvPicPr>
          <p:cNvPr id="2050" name="Picture 2" descr="Top 10 Electronic Retails in India – INFOBHARTI.COM">
            <a:extLst>
              <a:ext uri="{FF2B5EF4-FFF2-40B4-BE49-F238E27FC236}">
                <a16:creationId xmlns:a16="http://schemas.microsoft.com/office/drawing/2014/main" id="{48BA1EB5-4438-A7D0-A37E-B0B84BA6DE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69987" y="4643815"/>
            <a:ext cx="2205157" cy="1575857"/>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122BB9F1-F735-D50F-C7F4-546343DFD8F7}"/>
              </a:ext>
            </a:extLst>
          </p:cNvPr>
          <p:cNvPicPr>
            <a:picLocks noChangeAspect="1" noChangeArrowheads="1"/>
          </p:cNvPicPr>
          <p:nvPr/>
        </p:nvPicPr>
        <p:blipFill>
          <a:blip r:embed="rId3"/>
          <a:srcRect/>
          <a:stretch/>
        </p:blipFill>
        <p:spPr bwMode="auto">
          <a:xfrm>
            <a:off x="562332" y="4675301"/>
            <a:ext cx="2067778" cy="1544371"/>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7C1E69BE-16DA-85F4-A6E8-A6C1B9CF5D2F}"/>
              </a:ext>
            </a:extLst>
          </p:cNvPr>
          <p:cNvPicPr>
            <a:picLocks noChangeAspect="1" noChangeArrowheads="1"/>
          </p:cNvPicPr>
          <p:nvPr/>
        </p:nvPicPr>
        <p:blipFill>
          <a:blip r:embed="rId4"/>
          <a:srcRect/>
          <a:stretch/>
        </p:blipFill>
        <p:spPr bwMode="auto">
          <a:xfrm rot="10800000" flipV="1">
            <a:off x="3076467" y="4643815"/>
            <a:ext cx="2745548" cy="154437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D4D41062-2616-2980-B5BF-28586A8A22F2}"/>
              </a:ext>
            </a:extLst>
          </p:cNvPr>
          <p:cNvPicPr>
            <a:picLocks noChangeAspect="1"/>
          </p:cNvPicPr>
          <p:nvPr/>
        </p:nvPicPr>
        <p:blipFill>
          <a:blip r:embed="rId5"/>
          <a:srcRect/>
          <a:stretch/>
        </p:blipFill>
        <p:spPr>
          <a:xfrm>
            <a:off x="8891222" y="4675301"/>
            <a:ext cx="2707936" cy="1544370"/>
          </a:xfrm>
          <a:prstGeom prst="rect">
            <a:avLst/>
          </a:prstGeom>
        </p:spPr>
      </p:pic>
    </p:spTree>
    <p:extLst>
      <p:ext uri="{BB962C8B-B14F-4D97-AF65-F5344CB8AC3E}">
        <p14:creationId xmlns:p14="http://schemas.microsoft.com/office/powerpoint/2010/main" val="32504351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D214941-8D5B-DB6F-FC4D-B02F81FBDB4F}"/>
              </a:ext>
            </a:extLst>
          </p:cNvPr>
          <p:cNvSpPr txBox="1"/>
          <p:nvPr/>
        </p:nvSpPr>
        <p:spPr>
          <a:xfrm>
            <a:off x="1548881" y="797681"/>
            <a:ext cx="9619861" cy="3046988"/>
          </a:xfrm>
          <a:prstGeom prst="rect">
            <a:avLst/>
          </a:prstGeom>
          <a:noFill/>
        </p:spPr>
        <p:txBody>
          <a:bodyPr wrap="square">
            <a:spAutoFit/>
          </a:bodyPr>
          <a:lstStyle/>
          <a:p>
            <a:pPr algn="ctr"/>
            <a:r>
              <a:rPr lang="en-US" sz="2400" b="0" i="0" u="sng" dirty="0">
                <a:effectLst/>
                <a:latin typeface="Times New Roman" panose="02020603050405020304" pitchFamily="18" charset="0"/>
                <a:cs typeface="Times New Roman" panose="02020603050405020304" pitchFamily="18" charset="0"/>
              </a:rPr>
              <a:t>Environmental impacts</a:t>
            </a:r>
            <a:r>
              <a:rPr lang="en-US" sz="2400" u="sng" dirty="0">
                <a:latin typeface="Times New Roman" panose="02020603050405020304" pitchFamily="18" charset="0"/>
                <a:cs typeface="Times New Roman" panose="02020603050405020304" pitchFamily="18" charset="0"/>
              </a:rPr>
              <a:t> :-</a:t>
            </a:r>
          </a:p>
          <a:p>
            <a:pPr algn="ctr"/>
            <a:endParaRPr lang="en-US" sz="2400" b="0" i="0" u="sng" dirty="0">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
            </a:pPr>
            <a:r>
              <a:rPr lang="en-US" b="0" i="0" dirty="0">
                <a:effectLst/>
                <a:latin typeface="Arial" panose="020B0604020202020204" pitchFamily="34" charset="0"/>
              </a:rPr>
              <a:t>The process used to recycle and dispose of e-waste in India have led to a number of </a:t>
            </a:r>
            <a:r>
              <a:rPr lang="en-US" dirty="0">
                <a:latin typeface="Arial" panose="020B0604020202020204" pitchFamily="34" charset="0"/>
              </a:rPr>
              <a:t>harmful </a:t>
            </a:r>
            <a:r>
              <a:rPr lang="en-US" b="0" i="0" dirty="0">
                <a:effectLst/>
                <a:latin typeface="Arial" panose="020B0604020202020204" pitchFamily="34" charset="0"/>
              </a:rPr>
              <a:t>environmental impacts. </a:t>
            </a:r>
          </a:p>
          <a:p>
            <a:pPr marL="285750" indent="-285750" algn="l">
              <a:buFont typeface="Wingdings" panose="05000000000000000000" pitchFamily="2" charset="2"/>
              <a:buChar char="§"/>
            </a:pPr>
            <a:endParaRPr lang="en-US" dirty="0">
              <a:latin typeface="Arial" panose="020B0604020202020204" pitchFamily="34" charset="0"/>
            </a:endParaRPr>
          </a:p>
          <a:p>
            <a:pPr marL="285750" indent="-285750" algn="l">
              <a:buFont typeface="Wingdings" panose="05000000000000000000" pitchFamily="2" charset="2"/>
              <a:buChar char="§"/>
            </a:pPr>
            <a:r>
              <a:rPr lang="en-US" b="0" i="0" dirty="0">
                <a:effectLst/>
                <a:latin typeface="Arial" panose="020B0604020202020204" pitchFamily="34" charset="0"/>
              </a:rPr>
              <a:t>As a result, improper recycling and disposal techniques, air, water and soil throughout much of India is now contaminated with toxic e-waste byproducts.</a:t>
            </a:r>
          </a:p>
          <a:p>
            <a:pPr marL="285750" indent="-285750" algn="l">
              <a:buFont typeface="Wingdings" panose="05000000000000000000" pitchFamily="2" charset="2"/>
              <a:buChar char="§"/>
            </a:pPr>
            <a:endParaRPr lang="en-US" dirty="0">
              <a:latin typeface="Arial" panose="020B0604020202020204" pitchFamily="34" charset="0"/>
            </a:endParaRPr>
          </a:p>
          <a:p>
            <a:pPr marL="285750" indent="-285750" algn="l">
              <a:buFont typeface="Wingdings" panose="05000000000000000000" pitchFamily="2" charset="2"/>
              <a:buChar char="§"/>
            </a:pPr>
            <a:r>
              <a:rPr lang="en-US" b="0" i="0" dirty="0">
                <a:effectLst/>
                <a:latin typeface="Arial" panose="020B0604020202020204" pitchFamily="34" charset="0"/>
              </a:rPr>
              <a:t>Which may effect the healt</a:t>
            </a:r>
            <a:r>
              <a:rPr lang="en-US" dirty="0">
                <a:latin typeface="Arial" panose="020B0604020202020204" pitchFamily="34" charset="0"/>
              </a:rPr>
              <a:t>h of local communities.</a:t>
            </a:r>
          </a:p>
          <a:p>
            <a:pPr algn="l"/>
            <a:endParaRPr lang="en-US" b="0" i="0" dirty="0">
              <a:effectLst/>
              <a:latin typeface="Arial" panose="020B0604020202020204" pitchFamily="34" charset="0"/>
            </a:endParaRPr>
          </a:p>
        </p:txBody>
      </p:sp>
      <p:sp>
        <p:nvSpPr>
          <p:cNvPr id="7" name="TextBox 6">
            <a:extLst>
              <a:ext uri="{FF2B5EF4-FFF2-40B4-BE49-F238E27FC236}">
                <a16:creationId xmlns:a16="http://schemas.microsoft.com/office/drawing/2014/main" id="{9246C5EB-3D40-301A-6D3C-2010EE1705FA}"/>
              </a:ext>
            </a:extLst>
          </p:cNvPr>
          <p:cNvSpPr txBox="1"/>
          <p:nvPr/>
        </p:nvSpPr>
        <p:spPr>
          <a:xfrm>
            <a:off x="1681842" y="3995162"/>
            <a:ext cx="9095013" cy="1015663"/>
          </a:xfrm>
          <a:prstGeom prst="rect">
            <a:avLst/>
          </a:prstGeom>
          <a:noFill/>
        </p:spPr>
        <p:txBody>
          <a:bodyPr wrap="square">
            <a:spAutoFit/>
          </a:bodyPr>
          <a:lstStyle/>
          <a:p>
            <a:pPr algn="ctr"/>
            <a:r>
              <a:rPr lang="en-US" sz="2400" u="sng" dirty="0">
                <a:latin typeface="Times New Roman" panose="02020603050405020304" pitchFamily="18" charset="0"/>
                <a:cs typeface="Times New Roman" panose="02020603050405020304" pitchFamily="18" charset="0"/>
              </a:rPr>
              <a:t>Contribution of recycle of e-waste :</a:t>
            </a:r>
          </a:p>
          <a:p>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pPr>
            <a:r>
              <a:rPr lang="en-IN" dirty="0">
                <a:latin typeface="Times New Roman" panose="02020603050405020304" pitchFamily="18" charset="0"/>
                <a:cs typeface="Times New Roman" panose="02020603050405020304" pitchFamily="18" charset="0"/>
              </a:rPr>
              <a:t>Aim is to reduce the carbon footprints by 20% through responsible recycling.</a:t>
            </a:r>
            <a:endParaRPr lang="en-US"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E8AE69DB-1AD3-88C9-DA39-40B5D3C7FBA4}"/>
              </a:ext>
            </a:extLst>
          </p:cNvPr>
          <p:cNvSpPr txBox="1"/>
          <p:nvPr/>
        </p:nvSpPr>
        <p:spPr>
          <a:xfrm>
            <a:off x="1681841" y="5115151"/>
            <a:ext cx="8843089" cy="369332"/>
          </a:xfrm>
          <a:prstGeom prst="rect">
            <a:avLst/>
          </a:prstGeom>
          <a:noFill/>
        </p:spPr>
        <p:txBody>
          <a:bodyPr wrap="square">
            <a:spAutoFit/>
          </a:bodyPr>
          <a:lstStyle/>
          <a:p>
            <a:pPr marL="285750" indent="-285750">
              <a:buFont typeface="Wingdings" panose="05000000000000000000" pitchFamily="2" charset="2"/>
              <a:buChar char="ü"/>
            </a:pPr>
            <a:r>
              <a:rPr lang="en-US" b="0" i="0" dirty="0">
                <a:effectLst/>
                <a:latin typeface="Times New Roman" panose="02020603050405020304" pitchFamily="18" charset="0"/>
                <a:cs typeface="Times New Roman" panose="02020603050405020304" pitchFamily="18" charset="0"/>
              </a:rPr>
              <a:t>Providing manufacturers with recycled metals that can be used to make new products</a:t>
            </a:r>
            <a:r>
              <a:rPr lang="en-US" b="0" i="0" dirty="0">
                <a:solidFill>
                  <a:srgbClr val="202124"/>
                </a:solidFill>
                <a:effectLst/>
                <a:latin typeface="Google Sans"/>
              </a:rPr>
              <a:t>.</a:t>
            </a:r>
            <a:endParaRPr lang="en-IN" dirty="0"/>
          </a:p>
        </p:txBody>
      </p:sp>
      <p:sp>
        <p:nvSpPr>
          <p:cNvPr id="11" name="TextBox 10">
            <a:extLst>
              <a:ext uri="{FF2B5EF4-FFF2-40B4-BE49-F238E27FC236}">
                <a16:creationId xmlns:a16="http://schemas.microsoft.com/office/drawing/2014/main" id="{40968376-8E7E-0D6F-421A-D2444A74425E}"/>
              </a:ext>
            </a:extLst>
          </p:cNvPr>
          <p:cNvSpPr txBox="1"/>
          <p:nvPr/>
        </p:nvSpPr>
        <p:spPr>
          <a:xfrm>
            <a:off x="1681841" y="5568231"/>
            <a:ext cx="9095013" cy="369332"/>
          </a:xfrm>
          <a:prstGeom prst="rect">
            <a:avLst/>
          </a:prstGeom>
          <a:noFill/>
        </p:spPr>
        <p:txBody>
          <a:bodyPr wrap="square">
            <a:spAutoFit/>
          </a:bodyPr>
          <a:lstStyle/>
          <a:p>
            <a:pPr marL="285750" indent="-2857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P</a:t>
            </a:r>
            <a:r>
              <a:rPr lang="en-US" b="0" i="0" dirty="0">
                <a:effectLst/>
                <a:latin typeface="Times New Roman" panose="02020603050405020304" pitchFamily="18" charset="0"/>
                <a:cs typeface="Times New Roman" panose="02020603050405020304" pitchFamily="18" charset="0"/>
              </a:rPr>
              <a:t>rotecting human and environmental health by keeping those devices out of landfills.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77748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62CA362-7728-1832-FE48-BC1F782BF5FB}"/>
              </a:ext>
            </a:extLst>
          </p:cNvPr>
          <p:cNvSpPr txBox="1"/>
          <p:nvPr/>
        </p:nvSpPr>
        <p:spPr>
          <a:xfrm>
            <a:off x="1177990" y="160281"/>
            <a:ext cx="10018745" cy="3508653"/>
          </a:xfrm>
          <a:prstGeom prst="rect">
            <a:avLst/>
          </a:prstGeom>
          <a:noFill/>
        </p:spPr>
        <p:txBody>
          <a:bodyPr wrap="square">
            <a:spAutoFit/>
          </a:bodyPr>
          <a:lstStyle/>
          <a:p>
            <a:pPr algn="ctr"/>
            <a:r>
              <a:rPr lang="en-US" sz="2400" b="0" i="0" u="sng" dirty="0">
                <a:effectLst/>
                <a:latin typeface="Times New Roman" panose="02020603050405020304" pitchFamily="18" charset="0"/>
                <a:cs typeface="Times New Roman" panose="02020603050405020304" pitchFamily="18" charset="0"/>
              </a:rPr>
              <a:t>Technology and Process :-</a:t>
            </a:r>
          </a:p>
          <a:p>
            <a:r>
              <a:rPr lang="en-US" b="0" i="0" u="sng" dirty="0">
                <a:effectLst/>
                <a:latin typeface="Times New Roman" panose="02020603050405020304" pitchFamily="18" charset="0"/>
                <a:cs typeface="Times New Roman" panose="02020603050405020304" pitchFamily="18" charset="0"/>
              </a:rPr>
              <a:t>Collection:</a:t>
            </a:r>
          </a:p>
          <a:p>
            <a:endParaRPr lang="en-US" b="0" i="0" dirty="0">
              <a:effectLst/>
              <a:latin typeface="Times New Roman" panose="02020603050405020304" pitchFamily="18" charset="0"/>
              <a:cs typeface="Times New Roman" panose="02020603050405020304" pitchFamily="18" charset="0"/>
            </a:endParaRPr>
          </a:p>
          <a:p>
            <a:r>
              <a:rPr lang="en-US" b="0" i="0" dirty="0">
                <a:effectLst/>
                <a:latin typeface="Times New Roman" panose="02020603050405020304" pitchFamily="18" charset="0"/>
                <a:cs typeface="Times New Roman" panose="02020603050405020304" pitchFamily="18" charset="0"/>
              </a:rPr>
              <a:t>e-waste does not belong to general waste </a:t>
            </a:r>
            <a:r>
              <a:rPr lang="en-US" dirty="0">
                <a:latin typeface="Times New Roman" panose="02020603050405020304" pitchFamily="18" charset="0"/>
                <a:cs typeface="Times New Roman" panose="02020603050405020304" pitchFamily="18" charset="0"/>
              </a:rPr>
              <a:t>w</a:t>
            </a:r>
            <a:r>
              <a:rPr lang="en-US" b="0" i="0" dirty="0">
                <a:effectLst/>
                <a:latin typeface="Times New Roman" panose="02020603050405020304" pitchFamily="18" charset="0"/>
                <a:cs typeface="Times New Roman" panose="02020603050405020304" pitchFamily="18" charset="0"/>
              </a:rPr>
              <a:t>hen disposing of e-waste, you need to bring it to a designated collection place, usually a special recycling bin, a certified collection site, or major electronics retailers.</a:t>
            </a:r>
          </a:p>
          <a:p>
            <a:endParaRPr lang="en-US" dirty="0">
              <a:latin typeface="Times New Roman" panose="02020603050405020304" pitchFamily="18" charset="0"/>
              <a:cs typeface="Times New Roman" panose="02020603050405020304" pitchFamily="18" charset="0"/>
            </a:endParaRPr>
          </a:p>
          <a:p>
            <a:r>
              <a:rPr lang="en-US" u="sng" dirty="0">
                <a:latin typeface="Times New Roman" panose="02020603050405020304" pitchFamily="18" charset="0"/>
                <a:cs typeface="Times New Roman" panose="02020603050405020304" pitchFamily="18" charset="0"/>
              </a:rPr>
              <a:t>Sorting:</a:t>
            </a:r>
          </a:p>
          <a:p>
            <a:endParaRPr lang="en-US" dirty="0">
              <a:latin typeface="Times New Roman" panose="02020603050405020304" pitchFamily="18" charset="0"/>
              <a:cs typeface="Times New Roman" panose="02020603050405020304" pitchFamily="18" charset="0"/>
            </a:endParaRPr>
          </a:p>
          <a:p>
            <a:r>
              <a:rPr lang="en-US" b="0" i="0" dirty="0">
                <a:effectLst/>
                <a:latin typeface="proxima_nova"/>
              </a:rPr>
              <a:t>The first step in processing e-waste involves manual sorting to extract specific items, such as batteries and bulbs, for their own processing. During this stage, certain items may be dismantled by hand to recover valuable materials or components for reuse.</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pic>
        <p:nvPicPr>
          <p:cNvPr id="3076" name="Picture 4" descr="Different types of old used e-waste at junkyard.">
            <a:extLst>
              <a:ext uri="{FF2B5EF4-FFF2-40B4-BE49-F238E27FC236}">
                <a16:creationId xmlns:a16="http://schemas.microsoft.com/office/drawing/2014/main" id="{A40BBD13-EDB6-91B0-79FD-489B48189B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95388" y="3149082"/>
            <a:ext cx="3996612" cy="370891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682BF76-9ED5-F6C6-EB75-E54F220688B5}"/>
              </a:ext>
            </a:extLst>
          </p:cNvPr>
          <p:cNvSpPr txBox="1"/>
          <p:nvPr/>
        </p:nvSpPr>
        <p:spPr>
          <a:xfrm>
            <a:off x="1177990" y="3526213"/>
            <a:ext cx="6818345" cy="1477328"/>
          </a:xfrm>
          <a:prstGeom prst="rect">
            <a:avLst/>
          </a:prstGeom>
          <a:noFill/>
        </p:spPr>
        <p:txBody>
          <a:bodyPr wrap="square">
            <a:spAutoFit/>
          </a:bodyPr>
          <a:lstStyle/>
          <a:p>
            <a:pPr algn="l"/>
            <a:r>
              <a:rPr lang="en-US" i="0" u="sng" dirty="0">
                <a:effectLst/>
                <a:latin typeface="Times New Roman" panose="02020603050405020304" pitchFamily="18" charset="0"/>
                <a:cs typeface="Times New Roman" panose="02020603050405020304" pitchFamily="18" charset="0"/>
              </a:rPr>
              <a:t>Magnetic separation:</a:t>
            </a:r>
          </a:p>
          <a:p>
            <a:pPr algn="l"/>
            <a:endParaRPr lang="en-US" i="0" u="sng" dirty="0">
              <a:effectLst/>
              <a:latin typeface="Times New Roman" panose="02020603050405020304" pitchFamily="18" charset="0"/>
              <a:cs typeface="Times New Roman" panose="02020603050405020304" pitchFamily="18" charset="0"/>
            </a:endParaRPr>
          </a:p>
          <a:p>
            <a:pPr algn="l"/>
            <a:r>
              <a:rPr lang="en-US" b="0" i="0" dirty="0">
                <a:effectLst/>
                <a:latin typeface="Times New Roman" panose="02020603050405020304" pitchFamily="18" charset="0"/>
                <a:cs typeface="Times New Roman" panose="02020603050405020304" pitchFamily="18" charset="0"/>
              </a:rPr>
              <a:t>The e-waste is shredded and subjected to magnetic separation to extract ferrous metals like iron and steel, while non-ferrous metals are separated using eddy currents.</a:t>
            </a:r>
          </a:p>
        </p:txBody>
      </p:sp>
      <p:pic>
        <p:nvPicPr>
          <p:cNvPr id="3078" name="Picture 6" descr="Old used laptops lying on each other. ">
            <a:extLst>
              <a:ext uri="{FF2B5EF4-FFF2-40B4-BE49-F238E27FC236}">
                <a16:creationId xmlns:a16="http://schemas.microsoft.com/office/drawing/2014/main" id="{C5B054EB-A4C0-2EC6-D1F1-2154E0A83C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7986" y="4936566"/>
            <a:ext cx="3067050" cy="17611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903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4B7B62-0867-9E41-BDD9-4FF744E2F80C}"/>
              </a:ext>
            </a:extLst>
          </p:cNvPr>
          <p:cNvSpPr txBox="1"/>
          <p:nvPr/>
        </p:nvSpPr>
        <p:spPr>
          <a:xfrm>
            <a:off x="1470736" y="548017"/>
            <a:ext cx="8964385" cy="2123658"/>
          </a:xfrm>
          <a:prstGeom prst="rect">
            <a:avLst/>
          </a:prstGeom>
          <a:noFill/>
        </p:spPr>
        <p:txBody>
          <a:bodyPr wrap="square">
            <a:spAutoFit/>
          </a:bodyPr>
          <a:lstStyle/>
          <a:p>
            <a:pPr algn="ctr"/>
            <a:r>
              <a:rPr lang="en-US" sz="2400" b="0" i="0" u="sng" dirty="0">
                <a:effectLst/>
                <a:latin typeface="Times New Roman" panose="02020603050405020304" pitchFamily="18" charset="0"/>
                <a:cs typeface="Times New Roman" panose="02020603050405020304" pitchFamily="18" charset="0"/>
              </a:rPr>
              <a:t>Materials that can be extracted and re-used include:</a:t>
            </a:r>
          </a:p>
          <a:p>
            <a:pPr algn="ctr"/>
            <a:endParaRPr lang="en-US" b="0" i="0" dirty="0">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b="0" i="0" dirty="0">
                <a:effectLst/>
                <a:latin typeface="Times New Roman" panose="02020603050405020304" pitchFamily="18" charset="0"/>
                <a:cs typeface="Times New Roman" panose="02020603050405020304" pitchFamily="18" charset="0"/>
              </a:rPr>
              <a:t>precious metals such as gold, silver, copper, platinum, rhodium, or ruthenium.</a:t>
            </a:r>
          </a:p>
          <a:p>
            <a:pPr marL="285750" indent="-285750" algn="l">
              <a:buFont typeface="Wingdings" panose="05000000000000000000" pitchFamily="2" charset="2"/>
              <a:buChar char="Ø"/>
            </a:pPr>
            <a:endParaRPr lang="en-US" b="0" i="0" dirty="0">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b="0" i="0" dirty="0">
                <a:effectLst/>
                <a:latin typeface="Times New Roman" panose="02020603050405020304" pitchFamily="18" charset="0"/>
                <a:cs typeface="Times New Roman" panose="02020603050405020304" pitchFamily="18" charset="0"/>
              </a:rPr>
              <a:t>critical raw materials such as cobalt, palladium, indium, or antimony.</a:t>
            </a:r>
          </a:p>
          <a:p>
            <a:pPr marL="285750" indent="-285750" algn="l">
              <a:buFont typeface="Wingdings" panose="05000000000000000000" pitchFamily="2" charset="2"/>
              <a:buChar char="Ø"/>
            </a:pPr>
            <a:endParaRPr lang="en-US" b="0" i="0" dirty="0">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b="0" i="0" dirty="0">
                <a:effectLst/>
                <a:latin typeface="Times New Roman" panose="02020603050405020304" pitchFamily="18" charset="0"/>
                <a:cs typeface="Times New Roman" panose="02020603050405020304" pitchFamily="18" charset="0"/>
              </a:rPr>
              <a:t>noncritical metals such as aluminum and iron.</a:t>
            </a:r>
          </a:p>
        </p:txBody>
      </p:sp>
      <p:sp>
        <p:nvSpPr>
          <p:cNvPr id="5" name="TextBox 4">
            <a:extLst>
              <a:ext uri="{FF2B5EF4-FFF2-40B4-BE49-F238E27FC236}">
                <a16:creationId xmlns:a16="http://schemas.microsoft.com/office/drawing/2014/main" id="{A6C3B887-C5C0-7B33-F607-D9186605C503}"/>
              </a:ext>
            </a:extLst>
          </p:cNvPr>
          <p:cNvSpPr txBox="1"/>
          <p:nvPr/>
        </p:nvSpPr>
        <p:spPr>
          <a:xfrm>
            <a:off x="1470736" y="3100882"/>
            <a:ext cx="9502064" cy="2954655"/>
          </a:xfrm>
          <a:prstGeom prst="rect">
            <a:avLst/>
          </a:prstGeom>
          <a:noFill/>
        </p:spPr>
        <p:txBody>
          <a:bodyPr wrap="square">
            <a:spAutoFit/>
          </a:bodyPr>
          <a:lstStyle/>
          <a:p>
            <a:pPr algn="ctr"/>
            <a:r>
              <a:rPr lang="en-IN" sz="2400" u="sng" dirty="0">
                <a:latin typeface="Times New Roman" panose="02020603050405020304" pitchFamily="18" charset="0"/>
                <a:cs typeface="Times New Roman" panose="02020603050405020304" pitchFamily="18" charset="0"/>
              </a:rPr>
              <a:t>Innovation:</a:t>
            </a:r>
            <a:r>
              <a:rPr lang="en-IN" u="sng" dirty="0">
                <a:latin typeface="Times New Roman" panose="02020603050405020304" pitchFamily="18" charset="0"/>
                <a:cs typeface="Times New Roman" panose="02020603050405020304" pitchFamily="18" charset="0"/>
              </a:rPr>
              <a:t> Implementing a AI </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Integration of AI for automated sorting and identification of recyclable components, considering the unique challenges in India.</a:t>
            </a:r>
          </a:p>
          <a:p>
            <a:endParaRPr lang="en-IN" dirty="0">
              <a:latin typeface="Times New Roman" panose="02020603050405020304" pitchFamily="18" charset="0"/>
              <a:cs typeface="Times New Roman" panose="02020603050405020304" pitchFamily="18" charset="0"/>
            </a:endParaRPr>
          </a:p>
          <a:p>
            <a:pPr algn="ctr"/>
            <a:r>
              <a:rPr lang="en-IN" sz="2400" u="sng" dirty="0">
                <a:latin typeface="Times New Roman" panose="02020603050405020304" pitchFamily="18" charset="0"/>
                <a:cs typeface="Times New Roman" panose="02020603050405020304" pitchFamily="18" charset="0"/>
              </a:rPr>
              <a:t>Efficiency:</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Achieving higher recycling rates compared to traditional methods, especially for commonly used electronic items in India.</a:t>
            </a:r>
          </a:p>
        </p:txBody>
      </p:sp>
    </p:spTree>
    <p:extLst>
      <p:ext uri="{BB962C8B-B14F-4D97-AF65-F5344CB8AC3E}">
        <p14:creationId xmlns:p14="http://schemas.microsoft.com/office/powerpoint/2010/main" val="18763799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0500661-5E7A-9B66-7465-7D868452A215}"/>
              </a:ext>
            </a:extLst>
          </p:cNvPr>
          <p:cNvSpPr txBox="1"/>
          <p:nvPr/>
        </p:nvSpPr>
        <p:spPr>
          <a:xfrm>
            <a:off x="2013080" y="896515"/>
            <a:ext cx="8913068" cy="1169679"/>
          </a:xfrm>
          <a:prstGeom prst="rect">
            <a:avLst/>
          </a:prstGeom>
          <a:noFill/>
        </p:spPr>
        <p:txBody>
          <a:bodyPr wrap="square">
            <a:spAutoFit/>
          </a:bodyPr>
          <a:lstStyle/>
          <a:p>
            <a:pPr algn="ctr">
              <a:lnSpc>
                <a:spcPct val="107000"/>
              </a:lnSpc>
              <a:spcAft>
                <a:spcPts val="800"/>
              </a:spcAft>
            </a:pPr>
            <a:r>
              <a:rPr lang="en-US" sz="2400" u="sng" kern="100" dirty="0">
                <a:effectLst/>
                <a:latin typeface="Times New Roman" panose="02020603050405020304" pitchFamily="18" charset="0"/>
                <a:ea typeface="Times New Roman" panose="02020603050405020304" pitchFamily="18" charset="0"/>
                <a:cs typeface="Times New Roman" panose="02020603050405020304" pitchFamily="18" charset="0"/>
              </a:rPr>
              <a:t>Equipment needed for recycle : </a:t>
            </a:r>
          </a:p>
          <a:p>
            <a:pPr>
              <a:lnSpc>
                <a:spcPct val="107000"/>
              </a:lnSpc>
              <a:spcAft>
                <a:spcPts val="800"/>
              </a:spcAft>
            </a:pP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High-capacity shredders, magnetic separators, and advanced material recovery units suitable for Indian e-waste.</a:t>
            </a:r>
            <a:endPar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2050" name="Picture 2" descr="Electronic waste shredding and sorting production line system - GEP ECOTECH">
            <a:extLst>
              <a:ext uri="{FF2B5EF4-FFF2-40B4-BE49-F238E27FC236}">
                <a16:creationId xmlns:a16="http://schemas.microsoft.com/office/drawing/2014/main" id="{33869112-1191-7827-4BD2-266455B83B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3738" y="2539750"/>
            <a:ext cx="4084669" cy="276225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List of Separation Methods Used to Divert Waste from Landfill and Recycle">
            <a:extLst>
              <a:ext uri="{FF2B5EF4-FFF2-40B4-BE49-F238E27FC236}">
                <a16:creationId xmlns:a16="http://schemas.microsoft.com/office/drawing/2014/main" id="{A4A63B65-9FBA-ABCA-8FD0-D1D3E9FADD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97690" y="2539750"/>
            <a:ext cx="4267200" cy="276225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7E1A6A1-7CD1-0866-3F05-199945D04278}"/>
              </a:ext>
            </a:extLst>
          </p:cNvPr>
          <p:cNvSpPr txBox="1"/>
          <p:nvPr/>
        </p:nvSpPr>
        <p:spPr>
          <a:xfrm>
            <a:off x="1373738" y="5384488"/>
            <a:ext cx="3851405" cy="923330"/>
          </a:xfrm>
          <a:prstGeom prst="rect">
            <a:avLst/>
          </a:prstGeom>
          <a:noFill/>
        </p:spPr>
        <p:txBody>
          <a:bodyPr wrap="square">
            <a:spAutoFit/>
          </a:bodyPr>
          <a:lstStyle/>
          <a:p>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High-capacity shredders is used to crash th</a:t>
            </a:r>
            <a:r>
              <a:rPr lang="en-US" kern="100" dirty="0">
                <a:latin typeface="Times New Roman" panose="02020603050405020304" pitchFamily="18" charset="0"/>
                <a:ea typeface="Times New Roman" panose="02020603050405020304" pitchFamily="18" charset="0"/>
                <a:cs typeface="Times New Roman" panose="02020603050405020304" pitchFamily="18" charset="0"/>
              </a:rPr>
              <a:t>e materials obtained  from collection of e waste</a:t>
            </a:r>
            <a:endParaRPr lang="en-IN" dirty="0"/>
          </a:p>
        </p:txBody>
      </p:sp>
      <p:sp>
        <p:nvSpPr>
          <p:cNvPr id="7" name="TextBox 6">
            <a:extLst>
              <a:ext uri="{FF2B5EF4-FFF2-40B4-BE49-F238E27FC236}">
                <a16:creationId xmlns:a16="http://schemas.microsoft.com/office/drawing/2014/main" id="{2401D468-F851-3E73-89F8-E62DD05C4CBE}"/>
              </a:ext>
            </a:extLst>
          </p:cNvPr>
          <p:cNvSpPr txBox="1"/>
          <p:nvPr/>
        </p:nvSpPr>
        <p:spPr>
          <a:xfrm>
            <a:off x="6621820" y="5422535"/>
            <a:ext cx="4196442" cy="646331"/>
          </a:xfrm>
          <a:prstGeom prst="rect">
            <a:avLst/>
          </a:prstGeom>
          <a:noFill/>
        </p:spPr>
        <p:txBody>
          <a:bodyPr wrap="square">
            <a:spAutoFit/>
          </a:bodyPr>
          <a:lstStyle/>
          <a:p>
            <a:r>
              <a:rPr lang="en-US" kern="100" dirty="0">
                <a:latin typeface="Times New Roman" panose="02020603050405020304" pitchFamily="18" charset="0"/>
                <a:ea typeface="Times New Roman" panose="02020603050405020304" pitchFamily="18" charset="0"/>
                <a:cs typeface="Times New Roman" panose="02020603050405020304" pitchFamily="18" charset="0"/>
              </a:rPr>
              <a:t>M</a:t>
            </a: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agnetic separators is used to separate a magnetic and non magnetic substances</a:t>
            </a:r>
            <a:endParaRPr lang="en-IN" dirty="0"/>
          </a:p>
        </p:txBody>
      </p:sp>
    </p:spTree>
    <p:extLst>
      <p:ext uri="{BB962C8B-B14F-4D97-AF65-F5344CB8AC3E}">
        <p14:creationId xmlns:p14="http://schemas.microsoft.com/office/powerpoint/2010/main" val="37754614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8C64913-1F45-83BD-6D62-99F7FD7B7C64}"/>
              </a:ext>
            </a:extLst>
          </p:cNvPr>
          <p:cNvSpPr txBox="1"/>
          <p:nvPr/>
        </p:nvSpPr>
        <p:spPr>
          <a:xfrm>
            <a:off x="1532554" y="743779"/>
            <a:ext cx="9832132" cy="3055067"/>
          </a:xfrm>
          <a:prstGeom prst="rect">
            <a:avLst/>
          </a:prstGeom>
          <a:noFill/>
        </p:spPr>
        <p:txBody>
          <a:bodyPr wrap="square">
            <a:spAutoFit/>
          </a:bodyPr>
          <a:lstStyle/>
          <a:p>
            <a:pPr algn="ctr">
              <a:lnSpc>
                <a:spcPct val="107000"/>
              </a:lnSpc>
              <a:spcAft>
                <a:spcPts val="800"/>
              </a:spcAft>
            </a:pPr>
            <a:r>
              <a:rPr lang="en-US" sz="2400" u="sng" kern="100" dirty="0">
                <a:effectLst/>
                <a:latin typeface="Times New Roman" panose="02020603050405020304" pitchFamily="18" charset="0"/>
                <a:ea typeface="Times New Roman" panose="02020603050405020304" pitchFamily="18" charset="0"/>
                <a:cs typeface="Times New Roman" panose="02020603050405020304" pitchFamily="18" charset="0"/>
              </a:rPr>
              <a:t>Social Impact :</a:t>
            </a:r>
            <a:endParaRPr lang="en-IN" sz="2400" u="sng"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285750" indent="-285750">
              <a:lnSpc>
                <a:spcPct val="107000"/>
              </a:lnSpc>
              <a:spcAft>
                <a:spcPts val="800"/>
              </a:spcAft>
              <a:buFont typeface="Wingdings" panose="05000000000000000000" pitchFamily="2" charset="2"/>
              <a:buChar char="v"/>
            </a:pPr>
            <a:r>
              <a:rPr lang="en-US" sz="1800" u="sng" kern="100" dirty="0">
                <a:effectLst/>
                <a:latin typeface="Times New Roman" panose="02020603050405020304" pitchFamily="18" charset="0"/>
                <a:ea typeface="Times New Roman" panose="02020603050405020304" pitchFamily="18" charset="0"/>
                <a:cs typeface="Times New Roman" panose="02020603050405020304" pitchFamily="18" charset="0"/>
              </a:rPr>
              <a:t>Job Creation : </a:t>
            </a: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By this e waste </a:t>
            </a:r>
            <a:r>
              <a:rPr lang="en-US" sz="1800" kern="100">
                <a:effectLst/>
                <a:latin typeface="Times New Roman" panose="02020603050405020304" pitchFamily="18" charset="0"/>
                <a:ea typeface="Times New Roman" panose="02020603050405020304" pitchFamily="18" charset="0"/>
                <a:cs typeface="Times New Roman" panose="02020603050405020304" pitchFamily="18" charset="0"/>
              </a:rPr>
              <a:t>management </a:t>
            </a:r>
            <a:r>
              <a:rPr lang="en-US" kern="100">
                <a:latin typeface="Times New Roman" panose="02020603050405020304" pitchFamily="18" charset="0"/>
                <a:ea typeface="Times New Roman" panose="02020603050405020304" pitchFamily="18" charset="0"/>
                <a:cs typeface="Times New Roman" panose="02020603050405020304" pitchFamily="18" charset="0"/>
              </a:rPr>
              <a:t>it </a:t>
            </a:r>
            <a:r>
              <a:rPr lang="en-US" sz="1800" kern="100">
                <a:effectLst/>
                <a:latin typeface="Times New Roman" panose="02020603050405020304" pitchFamily="18" charset="0"/>
                <a:ea typeface="Times New Roman" panose="02020603050405020304" pitchFamily="18" charset="0"/>
                <a:cs typeface="Times New Roman" panose="02020603050405020304" pitchFamily="18" charset="0"/>
              </a:rPr>
              <a:t> create 50 jobs and more </a:t>
            </a: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in local Indian communities.</a:t>
            </a:r>
          </a:p>
          <a:p>
            <a:pPr marL="285750" indent="-285750">
              <a:lnSpc>
                <a:spcPct val="107000"/>
              </a:lnSpc>
              <a:spcAft>
                <a:spcPts val="800"/>
              </a:spcAft>
              <a:buFont typeface="Wingdings" panose="05000000000000000000" pitchFamily="2" charset="2"/>
              <a:buChar char="v"/>
            </a:pPr>
            <a:endPar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285750" indent="-285750">
              <a:lnSpc>
                <a:spcPct val="107000"/>
              </a:lnSpc>
              <a:spcAft>
                <a:spcPts val="800"/>
              </a:spcAft>
              <a:buFont typeface="Wingdings" panose="05000000000000000000" pitchFamily="2" charset="2"/>
              <a:buChar char="v"/>
            </a:pPr>
            <a:r>
              <a:rPr lang="en-US" sz="1800" u="sng" kern="100" dirty="0">
                <a:effectLst/>
                <a:latin typeface="Times New Roman" panose="02020603050405020304" pitchFamily="18" charset="0"/>
                <a:ea typeface="Times New Roman" panose="02020603050405020304" pitchFamily="18" charset="0"/>
                <a:cs typeface="Times New Roman" panose="02020603050405020304" pitchFamily="18" charset="0"/>
              </a:rPr>
              <a:t>Community Benefits: </a:t>
            </a: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Engaged in community clean-up initiatives and sponsored local environmental awareness programs in Indian cities.</a:t>
            </a:r>
          </a:p>
          <a:p>
            <a:pPr marL="285750" indent="-285750">
              <a:lnSpc>
                <a:spcPct val="107000"/>
              </a:lnSpc>
              <a:spcAft>
                <a:spcPts val="800"/>
              </a:spcAft>
              <a:buFont typeface="Wingdings" panose="05000000000000000000" pitchFamily="2" charset="2"/>
              <a:buChar char="v"/>
            </a:pPr>
            <a:endPar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285750" indent="-285750">
              <a:lnSpc>
                <a:spcPct val="107000"/>
              </a:lnSpc>
              <a:spcAft>
                <a:spcPts val="800"/>
              </a:spcAft>
              <a:buFont typeface="Wingdings" panose="05000000000000000000" pitchFamily="2" charset="2"/>
              <a:buChar char="v"/>
            </a:pPr>
            <a:r>
              <a:rPr lang="en-US" sz="1800" u="sng" kern="100" dirty="0">
                <a:effectLst/>
                <a:latin typeface="Times New Roman" panose="02020603050405020304" pitchFamily="18" charset="0"/>
                <a:ea typeface="Times New Roman" panose="02020603050405020304" pitchFamily="18" charset="0"/>
                <a:cs typeface="Times New Roman" panose="02020603050405020304" pitchFamily="18" charset="0"/>
              </a:rPr>
              <a:t>Education Initiatives: </a:t>
            </a: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Conducting workshops on responsible e-waste disposal in Indian schools and communities.</a:t>
            </a:r>
            <a:endPar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1026" name="Picture 2">
            <a:extLst>
              <a:ext uri="{FF2B5EF4-FFF2-40B4-BE49-F238E27FC236}">
                <a16:creationId xmlns:a16="http://schemas.microsoft.com/office/drawing/2014/main" id="{6834EDF2-94F6-E103-87FE-0DCB2AF7CFA0}"/>
              </a:ext>
            </a:extLst>
          </p:cNvPr>
          <p:cNvPicPr>
            <a:picLocks noChangeAspect="1" noChangeArrowheads="1"/>
          </p:cNvPicPr>
          <p:nvPr/>
        </p:nvPicPr>
        <p:blipFill>
          <a:blip r:embed="rId2"/>
          <a:srcRect/>
          <a:stretch/>
        </p:blipFill>
        <p:spPr bwMode="auto">
          <a:xfrm>
            <a:off x="3600239" y="4119690"/>
            <a:ext cx="5690455" cy="24446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13050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83E7A7B-D73A-C92F-E0E0-1FD7A00E483E}"/>
              </a:ext>
            </a:extLst>
          </p:cNvPr>
          <p:cNvSpPr txBox="1"/>
          <p:nvPr/>
        </p:nvSpPr>
        <p:spPr>
          <a:xfrm>
            <a:off x="2437621" y="855747"/>
            <a:ext cx="8917733" cy="2620654"/>
          </a:xfrm>
          <a:prstGeom prst="rect">
            <a:avLst/>
          </a:prstGeom>
          <a:noFill/>
        </p:spPr>
        <p:txBody>
          <a:bodyPr wrap="square">
            <a:spAutoFit/>
          </a:bodyPr>
          <a:lstStyle/>
          <a:p>
            <a:pPr algn="ctr">
              <a:lnSpc>
                <a:spcPct val="107000"/>
              </a:lnSpc>
              <a:spcAft>
                <a:spcPts val="800"/>
              </a:spcAft>
            </a:pPr>
            <a:r>
              <a:rPr lang="en-US" sz="2400" u="sng" kern="100" dirty="0">
                <a:effectLst/>
                <a:latin typeface="Times New Roman" panose="02020603050405020304" pitchFamily="18" charset="0"/>
                <a:ea typeface="Times New Roman" panose="02020603050405020304" pitchFamily="18" charset="0"/>
                <a:cs typeface="Times New Roman" panose="02020603050405020304" pitchFamily="18" charset="0"/>
              </a:rPr>
              <a:t>Risks and Strategy to solve the risk</a:t>
            </a:r>
          </a:p>
          <a:p>
            <a:pPr algn="l"/>
            <a:r>
              <a:rPr lang="en-US" b="1" i="0" u="sng" dirty="0">
                <a:effectLst/>
                <a:latin typeface="Times New Roman" panose="02020603050405020304" pitchFamily="18" charset="0"/>
                <a:cs typeface="Times New Roman" panose="02020603050405020304" pitchFamily="18" charset="0"/>
              </a:rPr>
              <a:t>Market Competition:</a:t>
            </a:r>
          </a:p>
          <a:p>
            <a:pPr algn="l"/>
            <a:endParaRPr lang="en-US" b="0" i="0" u="sng" dirty="0">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ü"/>
            </a:pPr>
            <a:r>
              <a:rPr lang="en-US" b="1" i="0" dirty="0">
                <a:effectLst/>
                <a:latin typeface="Times New Roman" panose="02020603050405020304" pitchFamily="18" charset="0"/>
                <a:cs typeface="Times New Roman" panose="02020603050405020304" pitchFamily="18" charset="0"/>
              </a:rPr>
              <a:t>Risk:</a:t>
            </a:r>
            <a:r>
              <a:rPr lang="en-US" b="0" i="0" dirty="0">
                <a:effectLst/>
                <a:latin typeface="Times New Roman" panose="02020603050405020304" pitchFamily="18" charset="0"/>
                <a:cs typeface="Times New Roman" panose="02020603050405020304" pitchFamily="18" charset="0"/>
              </a:rPr>
              <a:t> Increased competition in the market can impact market share and profitability.</a:t>
            </a:r>
          </a:p>
          <a:p>
            <a:pPr marL="285750" indent="-285750" algn="l">
              <a:buFont typeface="Wingdings" panose="05000000000000000000" pitchFamily="2" charset="2"/>
              <a:buChar char="ü"/>
            </a:pPr>
            <a:endParaRPr lang="en-US" b="0" i="0" dirty="0">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ü"/>
            </a:pPr>
            <a:r>
              <a:rPr lang="en-US" b="1" i="0" dirty="0">
                <a:effectLst/>
                <a:latin typeface="Times New Roman" panose="02020603050405020304" pitchFamily="18" charset="0"/>
                <a:cs typeface="Times New Roman" panose="02020603050405020304" pitchFamily="18" charset="0"/>
              </a:rPr>
              <a:t>Strategy:</a:t>
            </a:r>
            <a:r>
              <a:rPr lang="en-US" b="0" i="0" dirty="0">
                <a:effectLst/>
                <a:latin typeface="Times New Roman" panose="02020603050405020304" pitchFamily="18" charset="0"/>
                <a:cs typeface="Times New Roman" panose="02020603050405020304" pitchFamily="18" charset="0"/>
              </a:rPr>
              <a:t> Continuous market analysis </a:t>
            </a:r>
            <a:r>
              <a:rPr lang="en-US" dirty="0">
                <a:latin typeface="Times New Roman" panose="02020603050405020304" pitchFamily="18" charset="0"/>
                <a:cs typeface="Times New Roman" panose="02020603050405020304" pitchFamily="18" charset="0"/>
              </a:rPr>
              <a:t>in</a:t>
            </a:r>
            <a:r>
              <a:rPr lang="en-US" b="0" i="0" dirty="0">
                <a:effectLst/>
                <a:latin typeface="Times New Roman" panose="02020603050405020304" pitchFamily="18" charset="0"/>
                <a:cs typeface="Times New Roman" panose="02020603050405020304" pitchFamily="18" charset="0"/>
              </a:rPr>
              <a:t> India allows the business to stay informed about market trends and competitors' actions. </a:t>
            </a:r>
          </a:p>
          <a:p>
            <a:pPr>
              <a:lnSpc>
                <a:spcPct val="107000"/>
              </a:lnSpc>
              <a:spcAft>
                <a:spcPts val="800"/>
              </a:spcAft>
            </a:pPr>
            <a:endParaRPr lang="en-IN" sz="2400" u="sng" kern="1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EAB370EF-7B7B-EACC-68A7-CD8AA4B64521}"/>
              </a:ext>
            </a:extLst>
          </p:cNvPr>
          <p:cNvSpPr txBox="1"/>
          <p:nvPr/>
        </p:nvSpPr>
        <p:spPr>
          <a:xfrm>
            <a:off x="2437620" y="3429000"/>
            <a:ext cx="8721791" cy="1754326"/>
          </a:xfrm>
          <a:prstGeom prst="rect">
            <a:avLst/>
          </a:prstGeom>
          <a:noFill/>
        </p:spPr>
        <p:txBody>
          <a:bodyPr wrap="square">
            <a:spAutoFit/>
          </a:bodyPr>
          <a:lstStyle/>
          <a:p>
            <a:pPr algn="l"/>
            <a:r>
              <a:rPr lang="en-US" b="1" i="0" u="sng" dirty="0">
                <a:effectLst/>
                <a:latin typeface="Times New Roman" panose="02020603050405020304" pitchFamily="18" charset="0"/>
                <a:cs typeface="Times New Roman" panose="02020603050405020304" pitchFamily="18" charset="0"/>
              </a:rPr>
              <a:t>Changes in Indian Regulations:</a:t>
            </a:r>
          </a:p>
          <a:p>
            <a:pPr algn="l"/>
            <a:endParaRPr lang="en-US" b="0" i="0" u="sng" dirty="0">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ü"/>
            </a:pPr>
            <a:r>
              <a:rPr lang="en-US" b="1" i="0" dirty="0">
                <a:effectLst/>
                <a:latin typeface="Times New Roman" panose="02020603050405020304" pitchFamily="18" charset="0"/>
                <a:cs typeface="Times New Roman" panose="02020603050405020304" pitchFamily="18" charset="0"/>
              </a:rPr>
              <a:t>Risk:</a:t>
            </a:r>
            <a:r>
              <a:rPr lang="en-US" b="0" i="0" dirty="0">
                <a:effectLst/>
                <a:latin typeface="Times New Roman" panose="02020603050405020304" pitchFamily="18" charset="0"/>
                <a:cs typeface="Times New Roman" panose="02020603050405020304" pitchFamily="18" charset="0"/>
              </a:rPr>
              <a:t> Regulatory changes in India can pose challenges in business operations.</a:t>
            </a:r>
          </a:p>
          <a:p>
            <a:pPr marL="285750" indent="-285750" algn="l">
              <a:buFont typeface="Wingdings" panose="05000000000000000000" pitchFamily="2" charset="2"/>
              <a:buChar char="ü"/>
            </a:pPr>
            <a:endParaRPr lang="en-US" b="0" i="0" dirty="0">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ü"/>
            </a:pPr>
            <a:r>
              <a:rPr lang="en-US" b="1" i="0" dirty="0">
                <a:effectLst/>
                <a:latin typeface="Times New Roman" panose="02020603050405020304" pitchFamily="18" charset="0"/>
                <a:cs typeface="Times New Roman" panose="02020603050405020304" pitchFamily="18" charset="0"/>
              </a:rPr>
              <a:t>Strategy:</a:t>
            </a:r>
            <a:r>
              <a:rPr lang="en-US" b="0" i="0" dirty="0">
                <a:effectLst/>
                <a:latin typeface="Times New Roman" panose="02020603050405020304" pitchFamily="18" charset="0"/>
                <a:cs typeface="Times New Roman" panose="02020603050405020304" pitchFamily="18" charset="0"/>
              </a:rPr>
              <a:t> A flexible business model that can quickly adapt to changes in Indian regulations is crucial. </a:t>
            </a:r>
          </a:p>
        </p:txBody>
      </p:sp>
    </p:spTree>
    <p:extLst>
      <p:ext uri="{BB962C8B-B14F-4D97-AF65-F5344CB8AC3E}">
        <p14:creationId xmlns:p14="http://schemas.microsoft.com/office/powerpoint/2010/main" val="27505272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AFDA77B-CE26-2B52-5B46-29C01DE5CF15}"/>
              </a:ext>
            </a:extLst>
          </p:cNvPr>
          <p:cNvSpPr txBox="1"/>
          <p:nvPr/>
        </p:nvSpPr>
        <p:spPr>
          <a:xfrm>
            <a:off x="3202733" y="2460612"/>
            <a:ext cx="6106884" cy="1477071"/>
          </a:xfrm>
          <a:prstGeom prst="rect">
            <a:avLst/>
          </a:prstGeom>
          <a:noFill/>
        </p:spPr>
        <p:txBody>
          <a:bodyPr wrap="square">
            <a:spAutoFit/>
          </a:bodyPr>
          <a:lstStyle/>
          <a:p>
            <a:pPr algn="ctr">
              <a:lnSpc>
                <a:spcPct val="107000"/>
              </a:lnSpc>
              <a:spcAft>
                <a:spcPts val="800"/>
              </a:spcAft>
            </a:pPr>
            <a:r>
              <a:rPr lang="en-US" sz="8800" kern="100" dirty="0">
                <a:effectLst/>
                <a:latin typeface="Calibri" panose="020F0502020204030204" pitchFamily="34" charset="0"/>
                <a:ea typeface="Times New Roman" panose="02020603050405020304" pitchFamily="18" charset="0"/>
                <a:cs typeface="Tunga" panose="020B0502040204020203" pitchFamily="34" charset="0"/>
              </a:rPr>
              <a:t>Thank you</a:t>
            </a:r>
            <a:endParaRPr lang="en-IN" sz="8800" kern="100" dirty="0">
              <a:effectLst/>
              <a:latin typeface="Calibri" panose="020F0502020204030204" pitchFamily="34" charset="0"/>
              <a:ea typeface="Times New Roman" panose="02020603050405020304" pitchFamily="18" charset="0"/>
              <a:cs typeface="Tunga" panose="020B0502040204020203" pitchFamily="34" charset="0"/>
            </a:endParaRPr>
          </a:p>
        </p:txBody>
      </p:sp>
    </p:spTree>
    <p:extLst>
      <p:ext uri="{BB962C8B-B14F-4D97-AF65-F5344CB8AC3E}">
        <p14:creationId xmlns:p14="http://schemas.microsoft.com/office/powerpoint/2010/main" val="33912350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248</TotalTime>
  <Words>1268</Words>
  <Application>Microsoft Office PowerPoint</Application>
  <PresentationFormat>Widescreen</PresentationFormat>
  <Paragraphs>142</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Circuit</vt:lpstr>
      <vt:lpstr>Topic :- Electronic Waste recycling</vt:lpstr>
      <vt:lpstr>Project on e-waste management </vt:lpstr>
      <vt:lpstr>Vision and mission and statemenT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 Electronic Waste recycling</dc:title>
  <dc:creator>Prajwal Kumar</dc:creator>
  <cp:lastModifiedBy>Sagar Gowda</cp:lastModifiedBy>
  <cp:revision>5</cp:revision>
  <dcterms:created xsi:type="dcterms:W3CDTF">2023-11-16T07:33:54Z</dcterms:created>
  <dcterms:modified xsi:type="dcterms:W3CDTF">2024-07-26T04:36:34Z</dcterms:modified>
</cp:coreProperties>
</file>